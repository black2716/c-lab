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6"/>
  </p:notesMasterIdLst>
  <p:handoutMasterIdLst>
    <p:handoutMasterId r:id="rId7"/>
  </p:handoutMasterIdLst>
  <p:sldIdLst>
    <p:sldId id="524" r:id="rId2"/>
    <p:sldId id="525" r:id="rId3"/>
    <p:sldId id="526" r:id="rId4"/>
    <p:sldId id="527" r:id="rId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4B25996-56D8-4548-ADD0-31F23E224FC3}">
          <p14:sldIdLst/>
        </p14:section>
        <p14:section name="2026.9.4" id="{41FBA98B-9CF6-4D9B-A77F-F8F2AA95399E}">
          <p14:sldIdLst/>
        </p14:section>
        <p14:section name="2026.9.5" id="{3AB79C25-8D83-44E8-B1F1-95ABF6C0986E}">
          <p14:sldIdLst/>
        </p14:section>
        <p14:section name="2026.9.6" id="{5B11A9A5-40E2-43B1-807B-397E629341B7}">
          <p14:sldIdLst/>
        </p14:section>
        <p14:section name="2026.9.7" id="{959D3B66-1793-43E8-988B-73E6FD45DF8B}">
          <p14:sldIdLst>
            <p14:sldId id="524"/>
            <p14:sldId id="525"/>
            <p14:sldId id="526"/>
            <p14:sldId id="5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 Qiangguo" initials="" lastIdx="2" clrIdx="0"/>
  <p:cmAuthor id="2" name="未知用户1" initials="未知用户1" lastIdx="2" clrIdx="1"/>
  <p:cmAuthor id="3" name="Jin Qiangguo" initials="JQ" lastIdx="1" clrIdx="2">
    <p:extLst>
      <p:ext uri="{19B8F6BF-5375-455C-9EA6-DF929625EA0E}">
        <p15:presenceInfo xmlns:p15="http://schemas.microsoft.com/office/powerpoint/2012/main" userId="493a736e5562a2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CC"/>
    <a:srgbClr val="DCF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4" autoAdjust="0"/>
    <p:restoredTop sz="86441" autoAdjust="0"/>
  </p:normalViewPr>
  <p:slideViewPr>
    <p:cSldViewPr>
      <p:cViewPr varScale="1">
        <p:scale>
          <a:sx n="79" d="100"/>
          <a:sy n="79" d="100"/>
        </p:scale>
        <p:origin x="92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3012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55C9744-349E-413E-B870-0DB18FE7A3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7F6E8-4CDC-4777-91BC-1616BCAFEB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349ABDB-413D-4415-B228-5019F4A5C822}" type="datetimeFigureOut">
              <a:rPr lang="zh-CN" altLang="en-US"/>
              <a:pPr>
                <a:defRPr/>
              </a:pPr>
              <a:t>9/4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067766-2FF7-4CAF-AF75-5238F567F1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5A8C58-6027-47CE-8EBB-21F2F147A4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4F693DC-6886-4B51-ABFD-F6C9B5DBC3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C59C60E-2A2F-4834-A8D9-5DC8E4F9BE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60DE3F-D7A4-46FA-9AF2-D07213D433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1D92AEC-EA0D-4C81-9C01-4825A6CC05B4}" type="datetimeFigureOut">
              <a:rPr lang="zh-CN" altLang="en-US"/>
              <a:pPr>
                <a:defRPr/>
              </a:pPr>
              <a:t>9/4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7F0B237-4979-447D-8753-D0897E373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2ECB030-99D3-4E35-B652-E62AF89DD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AD8A22-9D51-4D82-BF79-D2D3EF6EA2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3A5C2B-7B69-4E4D-9627-A127C2EB5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643848F-110F-44C7-9E20-1C57F22208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7258F29-0D77-40BB-97F9-38991F4B473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24B1161-3554-43A1-A18A-03417CA384C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F122D31D-B629-434D-B68E-21277B6A9CF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8B90D81-7EA4-4C4B-A3F8-5F0D2E28C0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F3F07E82-128B-4971-A841-70C35FCCF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C3382E11-926D-4F71-A18D-F63A3B8DD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30A12B13-EF73-4C98-AD3F-3D1655EFD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D78F2E99-4DF6-4909-B447-B891B8B4F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DC90BFC0-F52E-4329-95C7-671B94113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5DC42993-C56D-4CED-87D3-B460E0382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B8F6BD2D-63B8-41D9-B5A9-41A4802E1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9F278468-112E-4EFA-9223-9B196F579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3E24C4D8-1BDC-4BF7-9889-C6B1C9961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1E5920B7-9983-41E2-ABB9-48F261E1B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C82D61A9-8874-4326-91B9-8A1D6E0293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3D26B-7845-4206-94BA-1BF51BC6AD63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E421A917-E582-4F15-B6BE-00DEC2D3E1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58E9ED40-5663-4AFC-B111-14DA954C7A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2A230-7B77-4E74-A939-5292C475FAA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090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EE73D9-5AF6-403E-B65A-AD102B4D81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B98B82-39BA-498C-A48A-F086D8B07E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6D1D-302C-47C1-BC3E-63700714371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4D4E2D7-1AEC-489E-959F-4B888D61D06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A847E-C187-401A-83E6-B3E23E981E1F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506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DBDA19-8F42-4BFE-8DB7-327E6581B9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1183639-59FB-44E9-846D-FA4890994E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6D2EF-AA78-438A-89A5-AEF1427F269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5B6B62C-98D5-46CF-A2B2-D046F8B1163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AF032-AE62-4C18-A6B4-A0962967D2E1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01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FBF1C2-1607-45CB-880E-F5A9AF8A93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213EFA5-8242-410E-8564-4D8B4CD4B97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53537-2EE3-4284-BC1C-A4B242C880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1033972-9C2F-4B83-ADE3-E0771FD2D30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34FE6-1408-4B1A-9D67-0B80D046833A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064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B2E874-A748-445B-B534-7FEDB39DD2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68C1BA7-D0AD-41F1-9FC2-4EBBB2F70A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9F5AB-CAC2-4D6E-BF22-0AEB164BD7C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16119AAB-3AA5-44D1-8953-279913AEBA8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AB8AB-A87C-4699-B896-959A1B2C97F8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869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E93C18-B789-4BBB-B6C2-FDD4A24E38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AE414-A471-4194-B703-8587AC1FED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63F17-F463-48D8-8545-D649C23B23B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1C545C92-759A-4452-A9C5-3FC82B9E978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985F4-C759-4239-97E4-3CE1543BEDC2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195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17921E6-FD28-4ADB-9BB5-F782DF429E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3B9922-ECE4-42F6-80CD-2EC09821F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72E19-3A1E-45B0-9959-2FC15A9CC7D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76EEBB04-72A2-426B-ABF0-272B18876E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92AD-E172-4795-BB02-75B86F3408EE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940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FB4BD3-C969-4C56-AE02-778DB1982C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693B39-028B-4F16-9D47-8B92C8E5D4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2D1CD-2636-45D2-9140-2DCF8EA0235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10D91EE-5058-4ADB-B34A-B8DEB01B3AA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8BF18-339C-47A1-A1D5-EDA5B48C2568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16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A5025E-6758-44F4-8A4F-554DD22843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EBC1E7-146C-48E7-967E-801000D936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EFAAB-EDCA-4FF7-8FB0-4D8391F700F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B7ED2E9-42E1-41EF-B72A-AAFDDB667BA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A1F43-C38E-4E0B-9CDE-8C873DF023EB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250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3AEEF2-8604-492C-B8DD-A22AAE2CC6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171A5B-431C-412A-AB31-96E12CE5AE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A24F3-5CB2-4B18-A664-AA945A132C9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7FEF826-E004-4600-810E-B29DFDED60F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FDDB3-73A6-4BEA-8E61-14C8895B99B5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890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144F43-F8F8-4F90-B2A8-5682C9386A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5B4F61-0E2C-4237-A4C3-2B5D8FA38A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3B241-525B-467A-A8BC-40BC70B8388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DE2F7C6-13C0-4A2B-AA8B-4764DAB04D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D0DE4-698F-4566-8C76-33D985142E8D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690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F29593-A437-4BB0-BCFF-AE0446EEBD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12143E2-044C-4E2F-AC12-3F5BF26A77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77C94-C194-4688-9417-7C2B0122F8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F672015-AC19-4750-9296-3B01AF08493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34252-6554-4543-A1F3-EEF4A3C55F15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809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37D4063-5B4B-4B92-99E4-DCC03C0C46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8C5D444-782D-4FCF-B2C0-6E5D6D43A3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0638BB31-92B5-4D00-BFD1-9E764D87775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8F8FEC3C-A125-41DD-8DA5-3B6F9417D98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F3D00DB3-243E-4CCA-8C15-888FB88F8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59D91B85-34F1-4FAD-81EE-33927DA30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93B2A73E-8920-4CA2-964F-86747C9E3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E129C071-70DD-4B14-A166-7651255DB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7FFD4C6B-3B5F-4BB2-B7B3-1E9976421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3606EB29-7ADD-4152-BA17-00BC9E679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2" name="Rectangle 11">
              <a:extLst>
                <a:ext uri="{FF2B5EF4-FFF2-40B4-BE49-F238E27FC236}">
                  <a16:creationId xmlns:a16="http://schemas.microsoft.com/office/drawing/2014/main" id="{A57D59D4-62CC-42D4-AF25-4DE4CBD50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12">
              <a:extLst>
                <a:ext uri="{FF2B5EF4-FFF2-40B4-BE49-F238E27FC236}">
                  <a16:creationId xmlns:a16="http://schemas.microsoft.com/office/drawing/2014/main" id="{4A63D9E2-E581-4204-8539-AF43078D1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A9CF7C84-F517-4732-97FB-0236B48A8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623FE00D-DD49-48B6-8127-2C810C7A6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3960C295-A593-47C1-ABE0-FE6499A691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B149D34E-F4BE-476E-956A-3A3AE0F9E0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fld id="{28DC0944-F550-44D5-9A14-50E700D62A1C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7" r:id="rId1"/>
    <p:sldLayoutId id="2147484715" r:id="rId2"/>
    <p:sldLayoutId id="2147484716" r:id="rId3"/>
    <p:sldLayoutId id="2147484717" r:id="rId4"/>
    <p:sldLayoutId id="2147484718" r:id="rId5"/>
    <p:sldLayoutId id="2147484719" r:id="rId6"/>
    <p:sldLayoutId id="2147484720" r:id="rId7"/>
    <p:sldLayoutId id="2147484721" r:id="rId8"/>
    <p:sldLayoutId id="2147484722" r:id="rId9"/>
    <p:sldLayoutId id="2147484723" r:id="rId10"/>
    <p:sldLayoutId id="2147484724" r:id="rId11"/>
    <p:sldLayoutId id="214748472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8.xml"/><Relationship Id="rId7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9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8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7.png"/><Relationship Id="rId5" Type="http://schemas.openxmlformats.org/officeDocument/2006/relationships/tags" Target="../tags/tag14.xml"/><Relationship Id="rId10" Type="http://schemas.openxmlformats.org/officeDocument/2006/relationships/image" Target="../media/image6.png"/><Relationship Id="rId4" Type="http://schemas.openxmlformats.org/officeDocument/2006/relationships/tags" Target="../tags/tag13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第十七次实验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05DA0480-C01D-4D25-D35B-C68815E52B9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7405" y="1484313"/>
            <a:ext cx="7560766" cy="47694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b="1" dirty="0">
                <a:latin typeface="+mn-ea"/>
                <a:ea typeface="+mn-ea"/>
              </a:rPr>
              <a:t>Dijkstra </a:t>
            </a:r>
            <a:r>
              <a:rPr sz="1600" b="1" dirty="0" err="1">
                <a:latin typeface="+mn-ea"/>
                <a:ea typeface="+mn-ea"/>
              </a:rPr>
              <a:t>最短路径（带路径输出</a:t>
            </a:r>
            <a:r>
              <a:rPr sz="1600" b="1" dirty="0">
                <a:latin typeface="+mn-ea"/>
                <a:ea typeface="+mn-ea"/>
              </a:rPr>
              <a:t>）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 err="1">
                <a:latin typeface="+mn-ea"/>
                <a:ea typeface="+mn-ea"/>
              </a:rPr>
              <a:t>有向图，n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个顶点</a:t>
            </a:r>
            <a:r>
              <a:rPr sz="1600" dirty="0">
                <a:latin typeface="+mn-ea"/>
                <a:ea typeface="+mn-ea"/>
              </a:rPr>
              <a:t> m </a:t>
            </a:r>
            <a:r>
              <a:rPr sz="1600" dirty="0" err="1">
                <a:latin typeface="+mn-ea"/>
                <a:ea typeface="+mn-ea"/>
              </a:rPr>
              <a:t>条边，求从源点</a:t>
            </a:r>
            <a:r>
              <a:rPr sz="1600" dirty="0">
                <a:latin typeface="+mn-ea"/>
                <a:ea typeface="+mn-ea"/>
              </a:rPr>
              <a:t> s </a:t>
            </a:r>
            <a:r>
              <a:rPr sz="1600" dirty="0" err="1">
                <a:latin typeface="+mn-ea"/>
                <a:ea typeface="+mn-ea"/>
              </a:rPr>
              <a:t>到所有点的最短路径长度，并输出到某个指定终点</a:t>
            </a:r>
            <a:r>
              <a:rPr sz="1600" dirty="0">
                <a:latin typeface="+mn-ea"/>
                <a:ea typeface="+mn-ea"/>
              </a:rPr>
              <a:t> t </a:t>
            </a:r>
            <a:r>
              <a:rPr sz="1600" dirty="0" err="1">
                <a:latin typeface="+mn-ea"/>
                <a:ea typeface="+mn-ea"/>
              </a:rPr>
              <a:t>的一条具体路径。边权非负</a:t>
            </a:r>
            <a:r>
              <a:rPr sz="1600" dirty="0">
                <a:latin typeface="+mn-ea"/>
                <a:ea typeface="+mn-ea"/>
              </a:rPr>
              <a:t>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>
                <a:latin typeface="+mn-ea"/>
                <a:ea typeface="+mn-ea"/>
              </a:rPr>
              <a:t>数据范围：1 ≤ n ≤ 1000，1 ≤ m ≤ 10^5。要求堆优化 Dijkstra。</a:t>
            </a:r>
            <a:br>
              <a:rPr sz="1600" dirty="0">
                <a:latin typeface="+mn-ea"/>
                <a:ea typeface="+mn-ea"/>
              </a:rPr>
            </a:b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输入示例：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4 5 1 4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1 2 2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1 3 4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2 3 1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2 4 7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3 4 3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输出示例：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1 2 3 4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（到各点距离可先输出一行，再输出路径）</a:t>
            </a:r>
          </a:p>
        </p:txBody>
      </p:sp>
    </p:spTree>
    <p:extLst>
      <p:ext uri="{BB962C8B-B14F-4D97-AF65-F5344CB8AC3E}">
        <p14:creationId xmlns:p14="http://schemas.microsoft.com/office/powerpoint/2010/main" val="261074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第十八次实验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EA755F62-CE16-69D8-6A58-69C673E1C0D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91617" y="1138660"/>
            <a:ext cx="7560766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b="1" dirty="0">
                <a:latin typeface="+mn-ea"/>
                <a:ea typeface="+mn-ea"/>
              </a:rPr>
              <a:t>AI</a:t>
            </a:r>
            <a:r>
              <a:rPr lang="zh-CN" altLang="en-US" sz="1600" b="1" dirty="0">
                <a:latin typeface="+mn-ea"/>
                <a:ea typeface="+mn-ea"/>
              </a:rPr>
              <a:t>辅助程序优化</a:t>
            </a:r>
            <a:r>
              <a:rPr lang="en-US" altLang="zh-CN" sz="1600" b="1" dirty="0">
                <a:latin typeface="+mn-ea"/>
                <a:ea typeface="+mn-ea"/>
              </a:rPr>
              <a:t>——</a:t>
            </a:r>
            <a:r>
              <a:rPr lang="zh-CN" altLang="en-US" sz="1600" b="1" dirty="0">
                <a:latin typeface="+mn-ea"/>
                <a:ea typeface="+mn-ea"/>
              </a:rPr>
              <a:t>英文文本统计分析系统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编写程序，实现英文文本统计。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输入：</a:t>
            </a:r>
            <a:endParaRPr lang="zh-CN" sz="1600" dirty="0">
              <a:latin typeface="+mn-ea"/>
              <a:ea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4E97D5-9845-734F-F48F-081F8CBEA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05" y="2257411"/>
            <a:ext cx="4710909" cy="62812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9CB7DE6-834F-E55A-ECDA-ACE66BC5441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1617" y="2877866"/>
            <a:ext cx="7560766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输出：</a:t>
            </a:r>
            <a:endParaRPr lang="zh-CN" sz="1600" dirty="0">
              <a:latin typeface="+mn-ea"/>
              <a:ea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E2872E4-28D6-D835-7687-8820E46ED6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84" y="3216420"/>
            <a:ext cx="4608512" cy="350219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DF9CBFF-6B58-F5FB-C4AE-C17280448E3A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796136" y="1340768"/>
            <a:ext cx="1800200" cy="20621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基本要求：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文件读取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2.</a:t>
            </a:r>
            <a:r>
              <a:rPr lang="zh-CN" altLang="en-US" sz="1600" dirty="0">
                <a:latin typeface="+mn-ea"/>
                <a:ea typeface="+mn-ea"/>
              </a:rPr>
              <a:t>单词提取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3.</a:t>
            </a:r>
            <a:r>
              <a:rPr lang="zh-CN" altLang="en-US" sz="1600" dirty="0">
                <a:latin typeface="+mn-ea"/>
                <a:ea typeface="+mn-ea"/>
              </a:rPr>
              <a:t>单词统计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4.</a:t>
            </a:r>
            <a:r>
              <a:rPr lang="zh-CN" altLang="en-US" sz="1600" dirty="0">
                <a:latin typeface="+mn-ea"/>
                <a:ea typeface="+mn-ea"/>
              </a:rPr>
              <a:t>排序输出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5.</a:t>
            </a:r>
            <a:r>
              <a:rPr lang="zh-CN" altLang="en-US" sz="1600" dirty="0">
                <a:latin typeface="+mn-ea"/>
                <a:ea typeface="+mn-ea"/>
              </a:rPr>
              <a:t>数据结构不限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性能比较：</a:t>
            </a:r>
            <a:endParaRPr lang="en-US" altLang="zh-CN" sz="1600" dirty="0">
              <a:latin typeface="+mn-ea"/>
              <a:ea typeface="+mn-ea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363754F-5A57-EEEA-6B3B-B73CDE8BE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240951"/>
              </p:ext>
            </p:extLst>
          </p:nvPr>
        </p:nvGraphicFramePr>
        <p:xfrm>
          <a:off x="5652120" y="3555013"/>
          <a:ext cx="3312369" cy="15989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4123">
                  <a:extLst>
                    <a:ext uri="{9D8B030D-6E8A-4147-A177-3AD203B41FA5}">
                      <a16:colId xmlns:a16="http://schemas.microsoft.com/office/drawing/2014/main" val="4272565355"/>
                    </a:ext>
                  </a:extLst>
                </a:gridCol>
                <a:gridCol w="1104123">
                  <a:extLst>
                    <a:ext uri="{9D8B030D-6E8A-4147-A177-3AD203B41FA5}">
                      <a16:colId xmlns:a16="http://schemas.microsoft.com/office/drawing/2014/main" val="110192016"/>
                    </a:ext>
                  </a:extLst>
                </a:gridCol>
                <a:gridCol w="1104123">
                  <a:extLst>
                    <a:ext uri="{9D8B030D-6E8A-4147-A177-3AD203B41FA5}">
                      <a16:colId xmlns:a16="http://schemas.microsoft.com/office/drawing/2014/main" val="2675317899"/>
                    </a:ext>
                  </a:extLst>
                </a:gridCol>
              </a:tblGrid>
              <a:tr h="496449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数据规模（词）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AI</a:t>
                      </a:r>
                      <a:r>
                        <a:rPr lang="zh-CN" altLang="en-US" sz="1200" dirty="0"/>
                        <a:t>优化前运行时间和空间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AI</a:t>
                      </a:r>
                      <a:r>
                        <a:rPr lang="zh-CN" altLang="en-US" sz="1200" dirty="0"/>
                        <a:t>优化前运行时间和空间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991576"/>
                  </a:ext>
                </a:extLst>
              </a:tr>
              <a:tr h="2756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1w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557578"/>
                  </a:ext>
                </a:extLst>
              </a:tr>
              <a:tr h="2756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10w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00365"/>
                  </a:ext>
                </a:extLst>
              </a:tr>
              <a:tr h="2756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100w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978883"/>
                  </a:ext>
                </a:extLst>
              </a:tr>
              <a:tr h="2756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1000w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372124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C5A69694-01D0-6F9F-E906-6DCFCB5D976E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96136" y="5171708"/>
            <a:ext cx="2952328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提交内容：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1.text_stat.c  (</a:t>
            </a:r>
            <a:r>
              <a:rPr lang="zh-CN" altLang="en-US" sz="1600" dirty="0">
                <a:latin typeface="+mn-ea"/>
                <a:ea typeface="+mn-ea"/>
              </a:rPr>
              <a:t>手搓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2.text_stat_AI.c </a:t>
            </a:r>
            <a:r>
              <a:rPr lang="zh-CN" altLang="en-US" sz="1600" dirty="0">
                <a:latin typeface="+mn-ea"/>
                <a:ea typeface="+mn-ea"/>
              </a:rPr>
              <a:t>（</a:t>
            </a:r>
            <a:r>
              <a:rPr lang="en-US" altLang="zh-CN" sz="1600" dirty="0">
                <a:latin typeface="+mn-ea"/>
                <a:ea typeface="+mn-ea"/>
              </a:rPr>
              <a:t>AI</a:t>
            </a:r>
            <a:r>
              <a:rPr lang="zh-CN" altLang="en-US" sz="1600" dirty="0">
                <a:latin typeface="+mn-ea"/>
                <a:ea typeface="+mn-ea"/>
              </a:rPr>
              <a:t>优化）</a:t>
            </a:r>
            <a:r>
              <a:rPr lang="en-US" altLang="zh-CN" sz="1600" dirty="0">
                <a:latin typeface="+mn-ea"/>
                <a:ea typeface="+mn-ea"/>
              </a:rPr>
              <a:t>2.optimization_report.docx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3.performance.xlsx 4.AI_record.md</a:t>
            </a:r>
          </a:p>
        </p:txBody>
      </p:sp>
    </p:spTree>
    <p:extLst>
      <p:ext uri="{BB962C8B-B14F-4D97-AF65-F5344CB8AC3E}">
        <p14:creationId xmlns:p14="http://schemas.microsoft.com/office/powerpoint/2010/main" val="107538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第十九次实验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B20E47BD-6D53-7B1E-2E7F-A4E111E7F69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91617" y="1055638"/>
            <a:ext cx="7560766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b="1" dirty="0">
                <a:latin typeface="+mn-ea"/>
                <a:ea typeface="+mn-ea"/>
              </a:rPr>
              <a:t>AI</a:t>
            </a:r>
            <a:r>
              <a:rPr lang="zh-CN" altLang="en-US" sz="1600" b="1" dirty="0">
                <a:latin typeface="+mn-ea"/>
                <a:ea typeface="+mn-ea"/>
              </a:rPr>
              <a:t>辅助软件设计</a:t>
            </a:r>
            <a:r>
              <a:rPr lang="en-US" altLang="zh-CN" sz="1600" b="1" dirty="0">
                <a:latin typeface="+mn-ea"/>
                <a:ea typeface="+mn-ea"/>
              </a:rPr>
              <a:t>——</a:t>
            </a:r>
            <a:r>
              <a:rPr lang="zh-CN" altLang="en-US" sz="1600" b="1" dirty="0">
                <a:latin typeface="+mn-ea"/>
                <a:ea typeface="+mn-ea"/>
              </a:rPr>
              <a:t>学生信息管理系统开发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设计并实现一个命令行学生信息管理系统。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系统菜单：</a:t>
            </a:r>
            <a:endParaRPr lang="zh-CN" sz="1600" dirty="0"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C6E6B8-D146-09CD-206E-B1E77221A24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02139" y="1827988"/>
            <a:ext cx="2396753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学生信息：</a:t>
            </a:r>
            <a:endParaRPr lang="zh-CN" sz="1600" dirty="0"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4155D6-F040-20D2-5980-61CFB103FF0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796136" y="1340768"/>
            <a:ext cx="2813278" cy="52629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基本要求：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添加学生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2.</a:t>
            </a:r>
            <a:r>
              <a:rPr lang="zh-CN" altLang="en-US" sz="1600" dirty="0">
                <a:latin typeface="+mn-ea"/>
                <a:ea typeface="+mn-ea"/>
              </a:rPr>
              <a:t>删除学生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3.</a:t>
            </a:r>
            <a:r>
              <a:rPr lang="zh-CN" altLang="en-US" sz="1600" dirty="0">
                <a:latin typeface="+mn-ea"/>
                <a:ea typeface="+mn-ea"/>
              </a:rPr>
              <a:t>查询学生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4.</a:t>
            </a:r>
            <a:r>
              <a:rPr lang="zh-CN" altLang="en-US" sz="1600" dirty="0">
                <a:latin typeface="+mn-ea"/>
                <a:ea typeface="+mn-ea"/>
              </a:rPr>
              <a:t>修改成绩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5.</a:t>
            </a:r>
            <a:r>
              <a:rPr lang="zh-CN" altLang="en-US" sz="1600" dirty="0">
                <a:latin typeface="+mn-ea"/>
                <a:ea typeface="+mn-ea"/>
              </a:rPr>
              <a:t>成绩排序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高级要求：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文件保存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2.</a:t>
            </a:r>
            <a:r>
              <a:rPr lang="zh-CN" altLang="en-US" sz="1600" dirty="0">
                <a:latin typeface="+mn-ea"/>
                <a:ea typeface="+mn-ea"/>
              </a:rPr>
              <a:t>程序重新启动后自动读取数据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挑战要求：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使用动态内存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AI</a:t>
            </a:r>
            <a:r>
              <a:rPr lang="zh-CN" altLang="en-US" sz="1600" dirty="0">
                <a:latin typeface="+mn-ea"/>
                <a:ea typeface="+mn-ea"/>
              </a:rPr>
              <a:t>辅助要求：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用</a:t>
            </a:r>
            <a:r>
              <a:rPr lang="en-US" altLang="zh-CN" sz="1600" dirty="0">
                <a:latin typeface="+mn-ea"/>
                <a:ea typeface="+mn-ea"/>
              </a:rPr>
              <a:t>AI</a:t>
            </a:r>
            <a:r>
              <a:rPr lang="zh-CN" altLang="en-US" sz="1600" dirty="0">
                <a:latin typeface="+mn-ea"/>
                <a:ea typeface="+mn-ea"/>
              </a:rPr>
              <a:t>设计模块和函数接口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DA34C8-D054-B886-C180-E23304AF0EE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89740" y="5802362"/>
            <a:ext cx="295232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提交内容：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中间产生代码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2.AI</a:t>
            </a:r>
            <a:r>
              <a:rPr lang="zh-CN" altLang="en-US" sz="1600" dirty="0">
                <a:latin typeface="+mn-ea"/>
                <a:ea typeface="+mn-ea"/>
              </a:rPr>
              <a:t>设计记录</a:t>
            </a:r>
            <a:r>
              <a:rPr lang="en-US" altLang="zh-CN" sz="1600" dirty="0">
                <a:latin typeface="+mn-ea"/>
                <a:ea typeface="+mn-ea"/>
              </a:rPr>
              <a:t>.md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80787B9-D38E-B106-2B0E-2F8BA8BE9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18" y="2166542"/>
            <a:ext cx="2696382" cy="349470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F2E8773-F2CF-93D2-B9C1-7856A40EF7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5896" y="2184305"/>
            <a:ext cx="1533333" cy="138095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DB6C665-3D5E-BBE6-867D-676237ABB9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8892" y="3626092"/>
            <a:ext cx="1387354" cy="57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94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9DA95C76-CB67-FB5A-DF26-D846DA3F13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044" y="3792890"/>
            <a:ext cx="1476190" cy="1819048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第二十次实验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CB4674BB-83D9-9A73-79B0-4667286AEC4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91617" y="1055638"/>
            <a:ext cx="7560766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b="1" dirty="0">
                <a:latin typeface="+mn-ea"/>
                <a:ea typeface="+mn-ea"/>
              </a:rPr>
              <a:t>综合实践</a:t>
            </a:r>
            <a:r>
              <a:rPr lang="en-US" altLang="zh-CN" sz="1600" b="1" dirty="0">
                <a:latin typeface="+mn-ea"/>
                <a:ea typeface="+mn-ea"/>
              </a:rPr>
              <a:t>——AI</a:t>
            </a:r>
            <a:r>
              <a:rPr lang="zh-CN" altLang="en-US" sz="1600" b="1" dirty="0">
                <a:latin typeface="+mn-ea"/>
                <a:ea typeface="+mn-ea"/>
              </a:rPr>
              <a:t>辅助开发命令行任务管理系统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开发一个命令行</a:t>
            </a:r>
            <a:r>
              <a:rPr lang="en-US" altLang="zh-CN" sz="1600" dirty="0">
                <a:latin typeface="+mn-ea"/>
                <a:ea typeface="+mn-ea"/>
              </a:rPr>
              <a:t>Todo</a:t>
            </a:r>
            <a:r>
              <a:rPr lang="zh-CN" altLang="en-US" sz="1600" dirty="0">
                <a:latin typeface="+mn-ea"/>
                <a:ea typeface="+mn-ea"/>
              </a:rPr>
              <a:t>任务管理系统。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运行方式：</a:t>
            </a:r>
            <a:endParaRPr lang="zh-CN" sz="1600" dirty="0"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E0AEBF-E2C1-23EC-1EE5-67AB015B780A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1617" y="3818412"/>
            <a:ext cx="2813278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功能要求：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添加任务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B8B141-FF7D-18A8-C722-D499620C6E4D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37703" y="4840478"/>
            <a:ext cx="251076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提交内容：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中间产生代码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2.</a:t>
            </a:r>
            <a:r>
              <a:rPr lang="zh-CN" altLang="en-US" sz="1600" dirty="0">
                <a:latin typeface="+mn-ea"/>
                <a:ea typeface="+mn-ea"/>
              </a:rPr>
              <a:t>需求分析</a:t>
            </a:r>
            <a:r>
              <a:rPr lang="en-US" altLang="zh-CN" sz="1600" dirty="0">
                <a:latin typeface="+mn-ea"/>
                <a:ea typeface="+mn-ea"/>
              </a:rPr>
              <a:t>.md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3.</a:t>
            </a:r>
            <a:r>
              <a:rPr lang="zh-CN" altLang="en-US" sz="1600" dirty="0">
                <a:latin typeface="+mn-ea"/>
                <a:ea typeface="+mn-ea"/>
              </a:rPr>
              <a:t>测试报告</a:t>
            </a:r>
            <a:r>
              <a:rPr lang="en-US" altLang="zh-CN" sz="1600" dirty="0">
                <a:latin typeface="+mn-ea"/>
                <a:ea typeface="+mn-ea"/>
              </a:rPr>
              <a:t>.md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4.AI</a:t>
            </a:r>
            <a:r>
              <a:rPr lang="zh-CN" altLang="en-US" sz="1600" dirty="0">
                <a:latin typeface="+mn-ea"/>
                <a:ea typeface="+mn-ea"/>
              </a:rPr>
              <a:t>协作记录</a:t>
            </a:r>
            <a:r>
              <a:rPr lang="en-US" altLang="zh-CN" sz="1600" dirty="0">
                <a:latin typeface="+mn-ea"/>
                <a:ea typeface="+mn-ea"/>
              </a:rPr>
              <a:t>.md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F124F17-DAD1-2C99-FF49-D5323328AC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629" y="2132856"/>
            <a:ext cx="2257143" cy="147619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0273A2B-57A9-8B35-26B9-0231499D41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936" y="4420302"/>
            <a:ext cx="2628255" cy="200644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432CEF3-44AB-740F-4668-E9066C59CFF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11960" y="1613119"/>
            <a:ext cx="281327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2.</a:t>
            </a:r>
            <a:r>
              <a:rPr lang="zh-CN" altLang="en-US" sz="1600" dirty="0">
                <a:latin typeface="+mn-ea"/>
                <a:ea typeface="+mn-ea"/>
              </a:rPr>
              <a:t>查看任务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EA89E2-CEC5-035A-AA7A-BD10913536AB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211960" y="3317390"/>
            <a:ext cx="281327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3.</a:t>
            </a:r>
            <a:r>
              <a:rPr lang="zh-CN" altLang="en-US" sz="1600" dirty="0">
                <a:latin typeface="+mn-ea"/>
                <a:ea typeface="+mn-ea"/>
              </a:rPr>
              <a:t>完成任务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4CD7514-376E-4CAF-B0F2-FEDC379ABD35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211960" y="5463808"/>
            <a:ext cx="281327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4.</a:t>
            </a:r>
            <a:r>
              <a:rPr lang="zh-CN" altLang="en-US" sz="1600" dirty="0">
                <a:latin typeface="+mn-ea"/>
                <a:ea typeface="+mn-ea"/>
              </a:rPr>
              <a:t>删除任务</a:t>
            </a:r>
            <a:endParaRPr lang="en-US" altLang="zh-CN" sz="1600" dirty="0">
              <a:latin typeface="+mn-ea"/>
              <a:ea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56D94A7-88F8-2A61-3C63-5C34B77E6F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8040" y="2113777"/>
            <a:ext cx="1676190" cy="1066667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47DACCA-89E3-BB77-2AD9-216C1DA3AB68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265390" y="1580050"/>
            <a:ext cx="3217267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5.</a:t>
            </a:r>
            <a:r>
              <a:rPr lang="zh-CN" altLang="en-US" sz="1600" dirty="0">
                <a:latin typeface="+mn-ea"/>
                <a:ea typeface="+mn-ea"/>
              </a:rPr>
              <a:t>文件保存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程序退出后：任务不能丢失。</a:t>
            </a:r>
            <a:endParaRPr lang="en-US" altLang="zh-CN" sz="1600" dirty="0">
              <a:latin typeface="+mn-ea"/>
              <a:ea typeface="+mn-ea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9EA356A-3625-205B-16FC-5B37D5E36B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11960" y="5877272"/>
            <a:ext cx="1121744" cy="84504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6654DD87-467B-5ADD-A338-D71DC879FC25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228184" y="2461613"/>
            <a:ext cx="2813278" cy="20621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+mn-ea"/>
                <a:ea typeface="+mn-ea"/>
              </a:rPr>
              <a:t>软件工程要求：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1.</a:t>
            </a:r>
            <a:r>
              <a:rPr lang="zh-CN" altLang="en-US" sz="1600" dirty="0">
                <a:latin typeface="+mn-ea"/>
                <a:ea typeface="+mn-ea"/>
              </a:rPr>
              <a:t>需求分析：需求说明书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2.</a:t>
            </a:r>
            <a:r>
              <a:rPr lang="zh-CN" altLang="en-US" sz="1600" dirty="0">
                <a:latin typeface="+mn-ea"/>
                <a:ea typeface="+mn-ea"/>
              </a:rPr>
              <a:t>软件设计：模块结构图、函数接口设计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3.</a:t>
            </a:r>
            <a:r>
              <a:rPr lang="zh-CN" altLang="en-US" sz="1600" dirty="0">
                <a:latin typeface="+mn-ea"/>
                <a:ea typeface="+mn-ea"/>
              </a:rPr>
              <a:t>测试：不少于</a:t>
            </a:r>
            <a:r>
              <a:rPr lang="en-US" altLang="zh-CN" sz="1600" dirty="0">
                <a:latin typeface="+mn-ea"/>
                <a:ea typeface="+mn-ea"/>
              </a:rPr>
              <a:t>10</a:t>
            </a:r>
            <a:r>
              <a:rPr lang="zh-CN" altLang="en-US" sz="1600" dirty="0">
                <a:latin typeface="+mn-ea"/>
                <a:ea typeface="+mn-ea"/>
              </a:rPr>
              <a:t>个测试案例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+mn-ea"/>
                <a:ea typeface="+mn-ea"/>
              </a:rPr>
              <a:t>4.</a:t>
            </a:r>
            <a:r>
              <a:rPr lang="zh-CN" altLang="en-US" sz="1600" dirty="0">
                <a:latin typeface="+mn-ea"/>
                <a:ea typeface="+mn-ea"/>
              </a:rPr>
              <a:t>代码审查：</a:t>
            </a:r>
            <a:r>
              <a:rPr lang="en-US" altLang="zh-CN" sz="1600" dirty="0">
                <a:latin typeface="+mn-ea"/>
                <a:ea typeface="+mn-ea"/>
              </a:rPr>
              <a:t>Code review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93720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9775</TotalTime>
  <Words>420</Words>
  <Application>Microsoft Office PowerPoint</Application>
  <PresentationFormat>全屏显示(4:3)</PresentationFormat>
  <Paragraphs>94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华文楷体</vt:lpstr>
      <vt:lpstr>Arial</vt:lpstr>
      <vt:lpstr>Arial Black</vt:lpstr>
      <vt:lpstr>Times New Roman</vt:lpstr>
      <vt:lpstr>Wingdings</vt:lpstr>
      <vt:lpstr>Pixel</vt:lpstr>
      <vt:lpstr>PowerPoint 演示文稿</vt:lpstr>
      <vt:lpstr>PowerPoint 演示文稿</vt:lpstr>
      <vt:lpstr>PowerPoint 演示文稿</vt:lpstr>
      <vt:lpstr>PowerPoint 演示文稿</vt:lpstr>
    </vt:vector>
  </TitlesOfParts>
  <Company>Jetstep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软件技能训练</dc:title>
  <dc:creator>wben</dc:creator>
  <cp:lastModifiedBy>Qiangguo Jin</cp:lastModifiedBy>
  <cp:revision>1073</cp:revision>
  <dcterms:created xsi:type="dcterms:W3CDTF">2008-09-12T02:21:48Z</dcterms:created>
  <dcterms:modified xsi:type="dcterms:W3CDTF">2026-09-04T00:47:10Z</dcterms:modified>
</cp:coreProperties>
</file>