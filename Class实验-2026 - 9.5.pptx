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7"/>
  </p:notesMasterIdLst>
  <p:handoutMasterIdLst>
    <p:handoutMasterId r:id="rId8"/>
  </p:handoutMasterIdLst>
  <p:sldIdLst>
    <p:sldId id="506" r:id="rId2"/>
    <p:sldId id="517" r:id="rId3"/>
    <p:sldId id="514" r:id="rId4"/>
    <p:sldId id="516" r:id="rId5"/>
    <p:sldId id="518" r:id="rId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4B25996-56D8-4548-ADD0-31F23E224FC3}">
          <p14:sldIdLst/>
        </p14:section>
        <p14:section name="2026.9.4" id="{41FBA98B-9CF6-4D9B-A77F-F8F2AA95399E}">
          <p14:sldIdLst/>
        </p14:section>
        <p14:section name="2026.9.5" id="{3AB79C25-8D83-44E8-B1F1-95ABF6C0986E}">
          <p14:sldIdLst>
            <p14:sldId id="506"/>
            <p14:sldId id="517"/>
            <p14:sldId id="514"/>
            <p14:sldId id="516"/>
            <p14:sldId id="518"/>
          </p14:sldIdLst>
        </p14:section>
        <p14:section name="2026.9.6" id="{5B11A9A5-40E2-43B1-807B-397E629341B7}">
          <p14:sldIdLst/>
        </p14:section>
        <p14:section name="2026.9.7" id="{959D3B66-1793-43E8-988B-73E6FD45DF8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 Qiangguo" initials="" lastIdx="2" clrIdx="0"/>
  <p:cmAuthor id="2" name="未知用户1" initials="未知用户1" lastIdx="2" clrIdx="1"/>
  <p:cmAuthor id="3" name="Jin Qiangguo" initials="JQ" lastIdx="1" clrIdx="2">
    <p:extLst>
      <p:ext uri="{19B8F6BF-5375-455C-9EA6-DF929625EA0E}">
        <p15:presenceInfo xmlns:p15="http://schemas.microsoft.com/office/powerpoint/2012/main" userId="493a736e5562a2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CC"/>
    <a:srgbClr val="DCF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4" autoAdjust="0"/>
    <p:restoredTop sz="86441" autoAdjust="0"/>
  </p:normalViewPr>
  <p:slideViewPr>
    <p:cSldViewPr>
      <p:cViewPr varScale="1">
        <p:scale>
          <a:sx n="79" d="100"/>
          <a:sy n="79" d="100"/>
        </p:scale>
        <p:origin x="92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012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55C9744-349E-413E-B870-0DB18FE7A3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7F6E8-4CDC-4777-91BC-1616BCAFEB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349ABDB-413D-4415-B228-5019F4A5C822}" type="datetimeFigureOut">
              <a:rPr lang="zh-CN" altLang="en-US"/>
              <a:pPr>
                <a:defRPr/>
              </a:pPr>
              <a:t>9/4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067766-2FF7-4CAF-AF75-5238F567F1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5A8C58-6027-47CE-8EBB-21F2F147A4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4F693DC-6886-4B51-ABFD-F6C9B5DBC3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C59C60E-2A2F-4834-A8D9-5DC8E4F9BE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60DE3F-D7A4-46FA-9AF2-D07213D433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1D92AEC-EA0D-4C81-9C01-4825A6CC05B4}" type="datetimeFigureOut">
              <a:rPr lang="zh-CN" altLang="en-US"/>
              <a:pPr>
                <a:defRPr/>
              </a:pPr>
              <a:t>9/4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7F0B237-4979-447D-8753-D0897E373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2ECB030-99D3-4E35-B652-E62AF89DD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AD8A22-9D51-4D82-BF79-D2D3EF6EA2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A5C2B-7B69-4E4D-9627-A127C2EB5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643848F-110F-44C7-9E20-1C57F22208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7258F29-0D77-40BB-97F9-38991F4B473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24B1161-3554-43A1-A18A-03417CA384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122D31D-B629-434D-B68E-21277B6A9CF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8B90D81-7EA4-4C4B-A3F8-5F0D2E28C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F3F07E82-128B-4971-A841-70C35FCCF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C3382E11-926D-4F71-A18D-F63A3B8DD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30A12B13-EF73-4C98-AD3F-3D1655EF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D78F2E99-4DF6-4909-B447-B891B8B4F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DC90BFC0-F52E-4329-95C7-671B94113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5DC42993-C56D-4CED-87D3-B460E0382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B8F6BD2D-63B8-41D9-B5A9-41A4802E1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9F278468-112E-4EFA-9223-9B196F579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3E24C4D8-1BDC-4BF7-9889-C6B1C9961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1E5920B7-9983-41E2-ABB9-48F261E1B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C82D61A9-8874-4326-91B9-8A1D6E0293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3D26B-7845-4206-94BA-1BF51BC6AD63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421A917-E582-4F15-B6BE-00DEC2D3E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58E9ED40-5663-4AFC-B111-14DA954C7A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2A230-7B77-4E74-A939-5292C475FAA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090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EE73D9-5AF6-403E-B65A-AD102B4D81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B98B82-39BA-498C-A48A-F086D8B07E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6D1D-302C-47C1-BC3E-63700714371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4D4E2D7-1AEC-489E-959F-4B888D61D06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A847E-C187-401A-83E6-B3E23E981E1F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506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DBDA19-8F42-4BFE-8DB7-327E6581B9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183639-59FB-44E9-846D-FA4890994E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6D2EF-AA78-438A-89A5-AEF1427F26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5B6B62C-98D5-46CF-A2B2-D046F8B1163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AF032-AE62-4C18-A6B4-A0962967D2E1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01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FBF1C2-1607-45CB-880E-F5A9AF8A93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13EFA5-8242-410E-8564-4D8B4CD4B97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53537-2EE3-4284-BC1C-A4B242C880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1033972-9C2F-4B83-ADE3-E0771FD2D3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34FE6-1408-4B1A-9D67-0B80D046833A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064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B2E874-A748-445B-B534-7FEDB39DD2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68C1BA7-D0AD-41F1-9FC2-4EBBB2F70A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9F5AB-CAC2-4D6E-BF22-0AEB164BD7C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16119AAB-3AA5-44D1-8953-279913AEBA8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AB8AB-A87C-4699-B896-959A1B2C97F8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69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93C18-B789-4BBB-B6C2-FDD4A24E38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AE414-A471-4194-B703-8587AC1FED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63F17-F463-48D8-8545-D649C23B23B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1C545C92-759A-4452-A9C5-3FC82B9E978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985F4-C759-4239-97E4-3CE1543BEDC2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195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7921E6-FD28-4ADB-9BB5-F782DF429E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3B9922-ECE4-42F6-80CD-2EC09821F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72E19-3A1E-45B0-9959-2FC15A9CC7D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76EEBB04-72A2-426B-ABF0-272B18876E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92AD-E172-4795-BB02-75B86F3408EE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940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FB4BD3-C969-4C56-AE02-778DB1982C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693B39-028B-4F16-9D47-8B92C8E5D4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2D1CD-2636-45D2-9140-2DCF8EA023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10D91EE-5058-4ADB-B34A-B8DEB01B3AA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8BF18-339C-47A1-A1D5-EDA5B48C2568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16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A5025E-6758-44F4-8A4F-554DD22843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EBC1E7-146C-48E7-967E-801000D936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EFAAB-EDCA-4FF7-8FB0-4D8391F700F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B7ED2E9-42E1-41EF-B72A-AAFDDB667BA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A1F43-C38E-4E0B-9CDE-8C873DF023EB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250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3AEEF2-8604-492C-B8DD-A22AAE2CC6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171A5B-431C-412A-AB31-96E12CE5AE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A24F3-5CB2-4B18-A664-AA945A132C9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7FEF826-E004-4600-810E-B29DFDED60F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FDDB3-73A6-4BEA-8E61-14C8895B99B5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890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144F43-F8F8-4F90-B2A8-5682C9386A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5B4F61-0E2C-4237-A4C3-2B5D8FA38A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3B241-525B-467A-A8BC-40BC70B8388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DE2F7C6-13C0-4A2B-AA8B-4764DAB04D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D0DE4-698F-4566-8C76-33D985142E8D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690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F29593-A437-4BB0-BCFF-AE0446EEBD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12143E2-044C-4E2F-AC12-3F5BF26A77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77C94-C194-4688-9417-7C2B0122F8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F672015-AC19-4750-9296-3B01AF08493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34252-6554-4543-A1F3-EEF4A3C55F15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809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7D4063-5B4B-4B92-99E4-DCC03C0C46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8C5D444-782D-4FCF-B2C0-6E5D6D43A3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0638BB31-92B5-4D00-BFD1-9E764D87775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8F8FEC3C-A125-41DD-8DA5-3B6F9417D98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F3D00DB3-243E-4CCA-8C15-888FB88F8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59D91B85-34F1-4FAD-81EE-33927DA3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93B2A73E-8920-4CA2-964F-86747C9E3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E129C071-70DD-4B14-A166-7651255DB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7FFD4C6B-3B5F-4BB2-B7B3-1E9976421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3606EB29-7ADD-4152-BA17-00BC9E679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A57D59D4-62CC-42D4-AF25-4DE4CBD50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12">
              <a:extLst>
                <a:ext uri="{FF2B5EF4-FFF2-40B4-BE49-F238E27FC236}">
                  <a16:creationId xmlns:a16="http://schemas.microsoft.com/office/drawing/2014/main" id="{4A63D9E2-E581-4204-8539-AF43078D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A9CF7C84-F517-4732-97FB-0236B48A8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623FE00D-DD49-48B6-8127-2C810C7A6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3960C295-A593-47C1-ABE0-FE6499A691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B149D34E-F4BE-476E-956A-3A3AE0F9E0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fld id="{28DC0944-F550-44D5-9A14-50E700D62A1C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7" r:id="rId1"/>
    <p:sldLayoutId id="2147484715" r:id="rId2"/>
    <p:sldLayoutId id="2147484716" r:id="rId3"/>
    <p:sldLayoutId id="2147484717" r:id="rId4"/>
    <p:sldLayoutId id="2147484718" r:id="rId5"/>
    <p:sldLayoutId id="2147484719" r:id="rId6"/>
    <p:sldLayoutId id="2147484720" r:id="rId7"/>
    <p:sldLayoutId id="2147484721" r:id="rId8"/>
    <p:sldLayoutId id="2147484722" r:id="rId9"/>
    <p:sldLayoutId id="2147484723" r:id="rId10"/>
    <p:sldLayoutId id="2147484724" r:id="rId11"/>
    <p:sldLayoutId id="214748472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文本框 5">
            <a:extLst>
              <a:ext uri="{FF2B5EF4-FFF2-40B4-BE49-F238E27FC236}">
                <a16:creationId xmlns:a16="http://schemas.microsoft.com/office/drawing/2014/main" id="{D81F9010-A979-417A-B986-50DC491ED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557338"/>
            <a:ext cx="7200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图的建立、深度优先搜索与广度优先搜索。</a:t>
            </a:r>
            <a:endParaRPr lang="en-US" altLang="zh-CN" sz="1800"/>
          </a:p>
        </p:txBody>
      </p:sp>
      <p:pic>
        <p:nvPicPr>
          <p:cNvPr id="21508" name="图片 2">
            <a:extLst>
              <a:ext uri="{FF2B5EF4-FFF2-40B4-BE49-F238E27FC236}">
                <a16:creationId xmlns:a16="http://schemas.microsoft.com/office/drawing/2014/main" id="{8045DFB6-DC4A-4A28-9030-CEB1D12C2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2241550"/>
            <a:ext cx="4895850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BBC656-608B-4777-B000-3106AA0C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038350"/>
            <a:ext cx="72009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第九次实验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44639E-D18E-46B4-BB86-E527698EABE9}"/>
              </a:ext>
            </a:extLst>
          </p:cNvPr>
          <p:cNvSpPr txBox="1"/>
          <p:nvPr/>
        </p:nvSpPr>
        <p:spPr>
          <a:xfrm>
            <a:off x="971600" y="605272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无向图，有向图都需要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573BF263-4E3A-4BC3-B179-6FF5EDB49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571500"/>
            <a:ext cx="497522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第十次实验</a:t>
            </a:r>
          </a:p>
        </p:txBody>
      </p:sp>
      <p:sp>
        <p:nvSpPr>
          <p:cNvPr id="5124" name="文本框 7">
            <a:extLst>
              <a:ext uri="{FF2B5EF4-FFF2-40B4-BE49-F238E27FC236}">
                <a16:creationId xmlns:a16="http://schemas.microsoft.com/office/drawing/2014/main" id="{CB9CA10B-B2E7-46B3-9ADB-791582FBA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41438"/>
            <a:ext cx="7129463" cy="3292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现有</a:t>
            </a:r>
            <a:r>
              <a:rPr lang="en-US" altLang="zh-CN" sz="1600" dirty="0">
                <a:latin typeface="+mn-ea"/>
                <a:ea typeface="+mn-ea"/>
              </a:rPr>
              <a:t>4</a:t>
            </a:r>
            <a:r>
              <a:rPr lang="zh-CN" altLang="en-US" sz="1600" dirty="0">
                <a:latin typeface="+mn-ea"/>
                <a:ea typeface="+mn-ea"/>
              </a:rPr>
              <a:t>个城市，以及</a:t>
            </a:r>
            <a:r>
              <a:rPr lang="en-US" altLang="zh-CN" sz="1600" dirty="0">
                <a:latin typeface="+mn-ea"/>
                <a:ea typeface="+mn-ea"/>
              </a:rPr>
              <a:t>3</a:t>
            </a:r>
            <a:r>
              <a:rPr lang="zh-CN" altLang="en-US" sz="1600" dirty="0">
                <a:latin typeface="+mn-ea"/>
                <a:ea typeface="+mn-ea"/>
              </a:rPr>
              <a:t>条双向公路连接着某些城市，公路的分布及过路费如下图所示：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现在有一部电影在这</a:t>
            </a:r>
            <a:r>
              <a:rPr lang="en-US" altLang="zh-CN" sz="1600" dirty="0">
                <a:latin typeface="+mn-ea"/>
                <a:ea typeface="+mn-ea"/>
              </a:rPr>
              <a:t>4</a:t>
            </a:r>
            <a:r>
              <a:rPr lang="zh-CN" altLang="en-US" sz="1600" dirty="0">
                <a:latin typeface="+mn-ea"/>
                <a:ea typeface="+mn-ea"/>
              </a:rPr>
              <a:t>个城市上映，票价分别为：</a:t>
            </a:r>
            <a:r>
              <a:rPr lang="en-US" altLang="zh-CN" sz="1600" dirty="0">
                <a:latin typeface="+mn-ea"/>
                <a:ea typeface="+mn-ea"/>
              </a:rPr>
              <a:t>50,20,50,30</a:t>
            </a:r>
            <a:r>
              <a:rPr lang="zh-CN" altLang="en-US" sz="1600" dirty="0">
                <a:latin typeface="+mn-ea"/>
                <a:ea typeface="+mn-ea"/>
              </a:rPr>
              <a:t>。一个人可以选择在本市看电影，也可以选择去其他城市看，如果前往其他城市观看，则不必把回程的路费计入。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分别计算这</a:t>
            </a:r>
            <a:r>
              <a:rPr lang="en-US" altLang="zh-CN" sz="1600" dirty="0">
                <a:latin typeface="+mn-ea"/>
                <a:ea typeface="+mn-ea"/>
              </a:rPr>
              <a:t>4</a:t>
            </a:r>
            <a:r>
              <a:rPr lang="zh-CN" altLang="en-US" sz="1600" dirty="0">
                <a:latin typeface="+mn-ea"/>
                <a:ea typeface="+mn-ea"/>
              </a:rPr>
              <a:t>个城市的人看电影最少需要多少钱？</a:t>
            </a:r>
            <a:endParaRPr lang="en-US" altLang="zh-CN" sz="1600" dirty="0">
              <a:latin typeface="+mn-ea"/>
              <a:ea typeface="+mn-ea"/>
            </a:endParaRPr>
          </a:p>
        </p:txBody>
      </p:sp>
      <p:pic>
        <p:nvPicPr>
          <p:cNvPr id="22532" name="图片 10">
            <a:extLst>
              <a:ext uri="{FF2B5EF4-FFF2-40B4-BE49-F238E27FC236}">
                <a16:creationId xmlns:a16="http://schemas.microsoft.com/office/drawing/2014/main" id="{3974AA83-782B-4385-A849-89B623C17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716463"/>
            <a:ext cx="4313237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33" name="组合 15">
            <a:extLst>
              <a:ext uri="{FF2B5EF4-FFF2-40B4-BE49-F238E27FC236}">
                <a16:creationId xmlns:a16="http://schemas.microsoft.com/office/drawing/2014/main" id="{12193CC8-0BAA-4F9E-902A-30F6C56DE157}"/>
              </a:ext>
            </a:extLst>
          </p:cNvPr>
          <p:cNvGrpSpPr>
            <a:grpSpLocks/>
          </p:cNvGrpSpPr>
          <p:nvPr/>
        </p:nvGrpSpPr>
        <p:grpSpPr bwMode="auto">
          <a:xfrm>
            <a:off x="3036888" y="1847850"/>
            <a:ext cx="2543175" cy="1581150"/>
            <a:chOff x="3037681" y="1849400"/>
            <a:chExt cx="3147206" cy="203816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D62F3E8F-0AA3-4F6E-8DA4-EC73E77EF023}"/>
                </a:ext>
              </a:extLst>
            </p:cNvPr>
            <p:cNvSpPr/>
            <p:nvPr/>
          </p:nvSpPr>
          <p:spPr bwMode="auto">
            <a:xfrm>
              <a:off x="3037681" y="2561528"/>
              <a:ext cx="648301" cy="62413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1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EADF9D9B-5EED-41DE-BC36-BA6F5FD865A6}"/>
                </a:ext>
              </a:extLst>
            </p:cNvPr>
            <p:cNvSpPr/>
            <p:nvPr/>
          </p:nvSpPr>
          <p:spPr bwMode="auto">
            <a:xfrm>
              <a:off x="4220339" y="1849400"/>
              <a:ext cx="646336" cy="62618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2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90DF510-6EA1-4912-BC40-51E90FE21508}"/>
                </a:ext>
              </a:extLst>
            </p:cNvPr>
            <p:cNvSpPr/>
            <p:nvPr/>
          </p:nvSpPr>
          <p:spPr bwMode="auto">
            <a:xfrm>
              <a:off x="4220339" y="3261378"/>
              <a:ext cx="646336" cy="62618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3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667D459-AD0A-4D5A-BE86-87EF6C32234D}"/>
                </a:ext>
              </a:extLst>
            </p:cNvPr>
            <p:cNvSpPr/>
            <p:nvPr/>
          </p:nvSpPr>
          <p:spPr bwMode="auto">
            <a:xfrm>
              <a:off x="5536586" y="2598362"/>
              <a:ext cx="648301" cy="62618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4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cxnSp>
          <p:nvCxnSpPr>
            <p:cNvPr id="22539" name="直接箭头连接符 6">
              <a:extLst>
                <a:ext uri="{FF2B5EF4-FFF2-40B4-BE49-F238E27FC236}">
                  <a16:creationId xmlns:a16="http://schemas.microsoft.com/office/drawing/2014/main" id="{37F4EB3A-4FCB-4BDC-9FB3-AC43FDA9F657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 bwMode="auto">
            <a:xfrm>
              <a:off x="3590845" y="3094625"/>
              <a:ext cx="723439" cy="25924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0" name="文本框 8">
              <a:extLst>
                <a:ext uri="{FF2B5EF4-FFF2-40B4-BE49-F238E27FC236}">
                  <a16:creationId xmlns:a16="http://schemas.microsoft.com/office/drawing/2014/main" id="{7901E48E-C7F8-49C7-AA64-CA401F420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6550" y="2904472"/>
              <a:ext cx="288032" cy="436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541" name="直接箭头连接符 10">
              <a:extLst>
                <a:ext uri="{FF2B5EF4-FFF2-40B4-BE49-F238E27FC236}">
                  <a16:creationId xmlns:a16="http://schemas.microsoft.com/office/drawing/2014/main" id="{EF5A5D93-D96F-46EC-B99B-CD62AA66526F}"/>
                </a:ext>
              </a:extLst>
            </p:cNvPr>
            <p:cNvCxnSpPr>
              <a:cxnSpLocks noChangeShapeType="1"/>
              <a:stCxn id="3" idx="5"/>
              <a:endCxn id="5" idx="1"/>
            </p:cNvCxnSpPr>
            <p:nvPr/>
          </p:nvCxnSpPr>
          <p:spPr bwMode="auto">
            <a:xfrm>
              <a:off x="4772540" y="2383086"/>
              <a:ext cx="859183" cy="30752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2" name="文本框 11">
              <a:extLst>
                <a:ext uri="{FF2B5EF4-FFF2-40B4-BE49-F238E27FC236}">
                  <a16:creationId xmlns:a16="http://schemas.microsoft.com/office/drawing/2014/main" id="{0E6486BF-FB2A-474A-A264-637AB5A3E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2487" y="2254978"/>
              <a:ext cx="2880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543" name="直接箭头连接符 13">
              <a:extLst>
                <a:ext uri="{FF2B5EF4-FFF2-40B4-BE49-F238E27FC236}">
                  <a16:creationId xmlns:a16="http://schemas.microsoft.com/office/drawing/2014/main" id="{85B15335-98DF-43AB-9960-400F56D6104A}"/>
                </a:ext>
              </a:extLst>
            </p:cNvPr>
            <p:cNvCxnSpPr>
              <a:cxnSpLocks noChangeShapeType="1"/>
              <a:stCxn id="3" idx="4"/>
              <a:endCxn id="4" idx="0"/>
            </p:cNvCxnSpPr>
            <p:nvPr/>
          </p:nvCxnSpPr>
          <p:spPr bwMode="auto">
            <a:xfrm>
              <a:off x="4543412" y="2474652"/>
              <a:ext cx="1" cy="78765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4" name="文本框 14">
              <a:extLst>
                <a:ext uri="{FF2B5EF4-FFF2-40B4-BE49-F238E27FC236}">
                  <a16:creationId xmlns:a16="http://schemas.microsoft.com/office/drawing/2014/main" id="{71BECE4E-94E9-44BC-A634-F0ED15C07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993" y="2712447"/>
              <a:ext cx="2880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6" name="组合 15">
            <a:extLst>
              <a:ext uri="{FF2B5EF4-FFF2-40B4-BE49-F238E27FC236}">
                <a16:creationId xmlns:a16="http://schemas.microsoft.com/office/drawing/2014/main" id="{5912DF76-0B09-4566-85BD-BB3B629E6C41}"/>
              </a:ext>
            </a:extLst>
          </p:cNvPr>
          <p:cNvGrpSpPr>
            <a:grpSpLocks/>
          </p:cNvGrpSpPr>
          <p:nvPr/>
        </p:nvGrpSpPr>
        <p:grpSpPr bwMode="auto">
          <a:xfrm>
            <a:off x="1271588" y="4162425"/>
            <a:ext cx="2543175" cy="1581150"/>
            <a:chOff x="3037681" y="1849400"/>
            <a:chExt cx="3147206" cy="2038160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FACAE53-8168-4A01-A5D3-B7F6D637039B}"/>
                </a:ext>
              </a:extLst>
            </p:cNvPr>
            <p:cNvSpPr/>
            <p:nvPr/>
          </p:nvSpPr>
          <p:spPr bwMode="auto">
            <a:xfrm>
              <a:off x="3037681" y="2561528"/>
              <a:ext cx="648301" cy="62413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1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06B7D6D4-F7BE-47FF-8DA2-EEB2D13E4713}"/>
                </a:ext>
              </a:extLst>
            </p:cNvPr>
            <p:cNvSpPr/>
            <p:nvPr/>
          </p:nvSpPr>
          <p:spPr bwMode="auto">
            <a:xfrm>
              <a:off x="4220339" y="1849400"/>
              <a:ext cx="646336" cy="62618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2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877B3C6-7CAC-4CAC-9C2E-0FEB1738AA35}"/>
                </a:ext>
              </a:extLst>
            </p:cNvPr>
            <p:cNvSpPr/>
            <p:nvPr/>
          </p:nvSpPr>
          <p:spPr bwMode="auto">
            <a:xfrm>
              <a:off x="4220339" y="3261378"/>
              <a:ext cx="646336" cy="62618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3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BD6F043-D0F6-45F3-8CC8-E056EE199A2E}"/>
                </a:ext>
              </a:extLst>
            </p:cNvPr>
            <p:cNvSpPr/>
            <p:nvPr/>
          </p:nvSpPr>
          <p:spPr bwMode="auto">
            <a:xfrm>
              <a:off x="5536586" y="2598362"/>
              <a:ext cx="648301" cy="62618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4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cxnSp>
          <p:nvCxnSpPr>
            <p:cNvPr id="23592" name="直接箭头连接符 6">
              <a:extLst>
                <a:ext uri="{FF2B5EF4-FFF2-40B4-BE49-F238E27FC236}">
                  <a16:creationId xmlns:a16="http://schemas.microsoft.com/office/drawing/2014/main" id="{F696A8A5-7BA4-4205-890A-89BEFFCB898B}"/>
                </a:ext>
              </a:extLst>
            </p:cNvPr>
            <p:cNvCxnSpPr>
              <a:cxnSpLocks/>
              <a:stCxn id="22" idx="5"/>
              <a:endCxn id="24" idx="1"/>
            </p:cNvCxnSpPr>
            <p:nvPr/>
          </p:nvCxnSpPr>
          <p:spPr bwMode="auto">
            <a:xfrm>
              <a:off x="3590845" y="3094625"/>
              <a:ext cx="723439" cy="25924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93" name="文本框 8">
              <a:extLst>
                <a:ext uri="{FF2B5EF4-FFF2-40B4-BE49-F238E27FC236}">
                  <a16:creationId xmlns:a16="http://schemas.microsoft.com/office/drawing/2014/main" id="{A021A7B3-13A1-4E25-9069-1BDDAC2E2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1960" y="3235275"/>
              <a:ext cx="366041" cy="396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594" name="直接箭头连接符 10">
              <a:extLst>
                <a:ext uri="{FF2B5EF4-FFF2-40B4-BE49-F238E27FC236}">
                  <a16:creationId xmlns:a16="http://schemas.microsoft.com/office/drawing/2014/main" id="{B4A84B36-C6BD-4EFB-986E-2D2E732EDBFD}"/>
                </a:ext>
              </a:extLst>
            </p:cNvPr>
            <p:cNvCxnSpPr>
              <a:cxnSpLocks noChangeShapeType="1"/>
              <a:stCxn id="23" idx="5"/>
              <a:endCxn id="25" idx="1"/>
            </p:cNvCxnSpPr>
            <p:nvPr/>
          </p:nvCxnSpPr>
          <p:spPr bwMode="auto">
            <a:xfrm>
              <a:off x="4772540" y="2383086"/>
              <a:ext cx="859183" cy="30752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95" name="文本框 11">
              <a:extLst>
                <a:ext uri="{FF2B5EF4-FFF2-40B4-BE49-F238E27FC236}">
                  <a16:creationId xmlns:a16="http://schemas.microsoft.com/office/drawing/2014/main" id="{0AAB70D2-711B-47A9-B888-54792DCDC4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2487" y="2254979"/>
              <a:ext cx="288032" cy="396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椭圆 31">
            <a:extLst>
              <a:ext uri="{FF2B5EF4-FFF2-40B4-BE49-F238E27FC236}">
                <a16:creationId xmlns:a16="http://schemas.microsoft.com/office/drawing/2014/main" id="{74F13F9D-4660-41E2-8B0F-8A162C01430B}"/>
              </a:ext>
            </a:extLst>
          </p:cNvPr>
          <p:cNvSpPr/>
          <p:nvPr/>
        </p:nvSpPr>
        <p:spPr bwMode="auto">
          <a:xfrm>
            <a:off x="1347788" y="5611813"/>
            <a:ext cx="523875" cy="48577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zh-CN" altLang="en-US" sz="1400" dirty="0">
                <a:latin typeface="+mn-ea"/>
                <a:ea typeface="+mn-ea"/>
              </a:rPr>
              <a:t>城市</a:t>
            </a:r>
            <a:r>
              <a:rPr lang="en-US" altLang="zh-CN" sz="1400" dirty="0">
                <a:latin typeface="+mn-ea"/>
                <a:ea typeface="+mn-ea"/>
              </a:rPr>
              <a:t>5</a:t>
            </a:r>
            <a:endParaRPr lang="zh-CN" altLang="en-US" sz="1400" dirty="0">
              <a:latin typeface="+mn-ea"/>
              <a:ea typeface="+mn-ea"/>
            </a:endParaRPr>
          </a:p>
        </p:txBody>
      </p:sp>
      <p:cxnSp>
        <p:nvCxnSpPr>
          <p:cNvPr id="23558" name="直接箭头连接符 10">
            <a:extLst>
              <a:ext uri="{FF2B5EF4-FFF2-40B4-BE49-F238E27FC236}">
                <a16:creationId xmlns:a16="http://schemas.microsoft.com/office/drawing/2014/main" id="{C3818D57-EBB8-4E73-A017-01246EEAC52D}"/>
              </a:ext>
            </a:extLst>
          </p:cNvPr>
          <p:cNvCxnSpPr>
            <a:cxnSpLocks noChangeShapeType="1"/>
            <a:stCxn id="24" idx="6"/>
            <a:endCxn id="25" idx="3"/>
          </p:cNvCxnSpPr>
          <p:nvPr/>
        </p:nvCxnSpPr>
        <p:spPr bwMode="auto">
          <a:xfrm flipV="1">
            <a:off x="2749550" y="5157788"/>
            <a:ext cx="619125" cy="342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59" name="文本框 11">
            <a:extLst>
              <a:ext uri="{FF2B5EF4-FFF2-40B4-BE49-F238E27FC236}">
                <a16:creationId xmlns:a16="http://schemas.microsoft.com/office/drawing/2014/main" id="{57BFF256-F471-4A26-9E65-5C34235FB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103813"/>
            <a:ext cx="3794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60" name="直接箭头连接符 13">
            <a:extLst>
              <a:ext uri="{FF2B5EF4-FFF2-40B4-BE49-F238E27FC236}">
                <a16:creationId xmlns:a16="http://schemas.microsoft.com/office/drawing/2014/main" id="{D353D3F9-9BA6-4210-AF48-5E82FE0F304F}"/>
              </a:ext>
            </a:extLst>
          </p:cNvPr>
          <p:cNvCxnSpPr>
            <a:cxnSpLocks noChangeShapeType="1"/>
            <a:stCxn id="22" idx="4"/>
            <a:endCxn id="32" idx="0"/>
          </p:cNvCxnSpPr>
          <p:nvPr/>
        </p:nvCxnSpPr>
        <p:spPr bwMode="auto">
          <a:xfrm>
            <a:off x="1533525" y="5199063"/>
            <a:ext cx="76200" cy="4127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1" name="文本框 14">
            <a:extLst>
              <a:ext uri="{FF2B5EF4-FFF2-40B4-BE49-F238E27FC236}">
                <a16:creationId xmlns:a16="http://schemas.microsoft.com/office/drawing/2014/main" id="{A14BDB1F-BB91-4B35-AA78-7DEFFCC7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5313363"/>
            <a:ext cx="409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562" name="组合 15">
            <a:extLst>
              <a:ext uri="{FF2B5EF4-FFF2-40B4-BE49-F238E27FC236}">
                <a16:creationId xmlns:a16="http://schemas.microsoft.com/office/drawing/2014/main" id="{58C71D87-58F5-4EB7-9253-3AA50151FC3F}"/>
              </a:ext>
            </a:extLst>
          </p:cNvPr>
          <p:cNvGrpSpPr>
            <a:grpSpLocks/>
          </p:cNvGrpSpPr>
          <p:nvPr/>
        </p:nvGrpSpPr>
        <p:grpSpPr bwMode="auto">
          <a:xfrm>
            <a:off x="4960938" y="3984625"/>
            <a:ext cx="2457450" cy="1927225"/>
            <a:chOff x="2971786" y="1605846"/>
            <a:chExt cx="3041775" cy="2485108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85BAB98-8248-4237-BA38-AE051F3EE0B0}"/>
                </a:ext>
              </a:extLst>
            </p:cNvPr>
            <p:cNvSpPr/>
            <p:nvPr/>
          </p:nvSpPr>
          <p:spPr bwMode="auto">
            <a:xfrm>
              <a:off x="3398184" y="3466607"/>
              <a:ext cx="648440" cy="62434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1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97543798-E2E4-4694-A7E4-2F072B6F3FDF}"/>
                </a:ext>
              </a:extLst>
            </p:cNvPr>
            <p:cNvSpPr/>
            <p:nvPr/>
          </p:nvSpPr>
          <p:spPr bwMode="auto">
            <a:xfrm>
              <a:off x="4072170" y="1605846"/>
              <a:ext cx="646475" cy="626395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2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A1DCB61-AFB1-4016-A3E1-B258B10C6261}"/>
                </a:ext>
              </a:extLst>
            </p:cNvPr>
            <p:cNvSpPr/>
            <p:nvPr/>
          </p:nvSpPr>
          <p:spPr bwMode="auto">
            <a:xfrm>
              <a:off x="2971786" y="2541344"/>
              <a:ext cx="646475" cy="62434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3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DDD1155C-FC9E-43D1-BA2C-E03FFB0DBBE4}"/>
                </a:ext>
              </a:extLst>
            </p:cNvPr>
            <p:cNvSpPr/>
            <p:nvPr/>
          </p:nvSpPr>
          <p:spPr bwMode="auto">
            <a:xfrm>
              <a:off x="5365121" y="2948705"/>
              <a:ext cx="648440" cy="626395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zh-CN" altLang="en-US" sz="1400" dirty="0">
                  <a:latin typeface="+mn-ea"/>
                  <a:ea typeface="+mn-ea"/>
                </a:rPr>
                <a:t>城市</a:t>
              </a:r>
              <a:r>
                <a:rPr lang="en-US" altLang="zh-CN" sz="1400" dirty="0">
                  <a:latin typeface="+mn-ea"/>
                  <a:ea typeface="+mn-ea"/>
                </a:rPr>
                <a:t>4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cxnSp>
          <p:nvCxnSpPr>
            <p:cNvPr id="23584" name="直接箭头连接符 6">
              <a:extLst>
                <a:ext uri="{FF2B5EF4-FFF2-40B4-BE49-F238E27FC236}">
                  <a16:creationId xmlns:a16="http://schemas.microsoft.com/office/drawing/2014/main" id="{F93D151F-D81D-4226-A67F-1E9D4C8076BC}"/>
                </a:ext>
              </a:extLst>
            </p:cNvPr>
            <p:cNvCxnSpPr>
              <a:cxnSpLocks/>
              <a:stCxn id="42" idx="6"/>
              <a:endCxn id="45" idx="2"/>
            </p:cNvCxnSpPr>
            <p:nvPr/>
          </p:nvCxnSpPr>
          <p:spPr bwMode="auto">
            <a:xfrm flipV="1">
              <a:off x="4045903" y="3261972"/>
              <a:ext cx="1319357" cy="51691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85" name="文本框 8">
              <a:extLst>
                <a:ext uri="{FF2B5EF4-FFF2-40B4-BE49-F238E27FC236}">
                  <a16:creationId xmlns:a16="http://schemas.microsoft.com/office/drawing/2014/main" id="{62F5BD0D-0FAE-436C-8E0B-A41BDE026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17" y="3158126"/>
              <a:ext cx="519058" cy="396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586" name="直接箭头连接符 10">
              <a:extLst>
                <a:ext uri="{FF2B5EF4-FFF2-40B4-BE49-F238E27FC236}">
                  <a16:creationId xmlns:a16="http://schemas.microsoft.com/office/drawing/2014/main" id="{B050F8B8-849F-4C6F-BD10-5C7AC094B049}"/>
                </a:ext>
              </a:extLst>
            </p:cNvPr>
            <p:cNvCxnSpPr>
              <a:cxnSpLocks noChangeShapeType="1"/>
              <a:stCxn id="43" idx="5"/>
              <a:endCxn id="45" idx="1"/>
            </p:cNvCxnSpPr>
            <p:nvPr/>
          </p:nvCxnSpPr>
          <p:spPr bwMode="auto">
            <a:xfrm>
              <a:off x="4623427" y="2140325"/>
              <a:ext cx="836775" cy="90025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87" name="文本框 11">
              <a:extLst>
                <a:ext uri="{FF2B5EF4-FFF2-40B4-BE49-F238E27FC236}">
                  <a16:creationId xmlns:a16="http://schemas.microsoft.com/office/drawing/2014/main" id="{61E03E09-6610-4394-A33B-1B04F6849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159" y="2546849"/>
              <a:ext cx="288032" cy="396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椭圆 49">
            <a:extLst>
              <a:ext uri="{FF2B5EF4-FFF2-40B4-BE49-F238E27FC236}">
                <a16:creationId xmlns:a16="http://schemas.microsoft.com/office/drawing/2014/main" id="{BB9FA66A-BCCA-4518-A593-E697B19FEE20}"/>
              </a:ext>
            </a:extLst>
          </p:cNvPr>
          <p:cNvSpPr/>
          <p:nvPr/>
        </p:nvSpPr>
        <p:spPr bwMode="auto">
          <a:xfrm>
            <a:off x="7273925" y="4011613"/>
            <a:ext cx="523875" cy="53022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zh-CN" altLang="en-US" sz="1400" dirty="0">
                <a:latin typeface="+mn-ea"/>
                <a:ea typeface="+mn-ea"/>
              </a:rPr>
              <a:t>城市</a:t>
            </a:r>
            <a:r>
              <a:rPr lang="en-US" altLang="zh-CN" sz="1400" dirty="0">
                <a:latin typeface="+mn-ea"/>
                <a:ea typeface="+mn-ea"/>
              </a:rPr>
              <a:t>5</a:t>
            </a:r>
            <a:endParaRPr lang="zh-CN" altLang="en-US" sz="1400" dirty="0">
              <a:latin typeface="+mn-ea"/>
              <a:ea typeface="+mn-ea"/>
            </a:endParaRPr>
          </a:p>
        </p:txBody>
      </p:sp>
      <p:cxnSp>
        <p:nvCxnSpPr>
          <p:cNvPr id="23564" name="直接箭头连接符 10">
            <a:extLst>
              <a:ext uri="{FF2B5EF4-FFF2-40B4-BE49-F238E27FC236}">
                <a16:creationId xmlns:a16="http://schemas.microsoft.com/office/drawing/2014/main" id="{436C28D6-4043-4046-8554-1EE0FCFA23B2}"/>
              </a:ext>
            </a:extLst>
          </p:cNvPr>
          <p:cNvCxnSpPr>
            <a:cxnSpLocks noChangeShapeType="1"/>
            <a:stCxn id="45" idx="7"/>
            <a:endCxn id="50" idx="4"/>
          </p:cNvCxnSpPr>
          <p:nvPr/>
        </p:nvCxnSpPr>
        <p:spPr bwMode="auto">
          <a:xfrm flipV="1">
            <a:off x="7342188" y="4541838"/>
            <a:ext cx="193675" cy="5556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5" name="文本框 11">
            <a:extLst>
              <a:ext uri="{FF2B5EF4-FFF2-40B4-BE49-F238E27FC236}">
                <a16:creationId xmlns:a16="http://schemas.microsoft.com/office/drawing/2014/main" id="{27C78611-81FA-448F-BA6D-07490A4F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8" y="4757738"/>
            <a:ext cx="37941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66" name="直接箭头连接符 13">
            <a:extLst>
              <a:ext uri="{FF2B5EF4-FFF2-40B4-BE49-F238E27FC236}">
                <a16:creationId xmlns:a16="http://schemas.microsoft.com/office/drawing/2014/main" id="{53D6FA2C-6350-4ABB-8085-F0510813BCB0}"/>
              </a:ext>
            </a:extLst>
          </p:cNvPr>
          <p:cNvCxnSpPr>
            <a:cxnSpLocks noChangeShapeType="1"/>
            <a:stCxn id="43" idx="6"/>
            <a:endCxn id="50" idx="2"/>
          </p:cNvCxnSpPr>
          <p:nvPr/>
        </p:nvCxnSpPr>
        <p:spPr bwMode="auto">
          <a:xfrm>
            <a:off x="6370638" y="4227513"/>
            <a:ext cx="903287" cy="492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7" name="文本框 14">
            <a:extLst>
              <a:ext uri="{FF2B5EF4-FFF2-40B4-BE49-F238E27FC236}">
                <a16:creationId xmlns:a16="http://schemas.microsoft.com/office/drawing/2014/main" id="{90C60A49-A95F-43E3-89BA-C8FC4580F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538" y="3979863"/>
            <a:ext cx="4095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68" name="直接箭头连接符 6">
            <a:extLst>
              <a:ext uri="{FF2B5EF4-FFF2-40B4-BE49-F238E27FC236}">
                <a16:creationId xmlns:a16="http://schemas.microsoft.com/office/drawing/2014/main" id="{36A17340-3387-43D7-811E-024CE097B9F3}"/>
              </a:ext>
            </a:extLst>
          </p:cNvPr>
          <p:cNvCxnSpPr>
            <a:cxnSpLocks/>
            <a:stCxn id="44" idx="7"/>
            <a:endCxn id="43" idx="3"/>
          </p:cNvCxnSpPr>
          <p:nvPr/>
        </p:nvCxnSpPr>
        <p:spPr bwMode="auto">
          <a:xfrm flipV="1">
            <a:off x="5405438" y="4398963"/>
            <a:ext cx="520700" cy="382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9" name="文本框 8">
            <a:extLst>
              <a:ext uri="{FF2B5EF4-FFF2-40B4-BE49-F238E27FC236}">
                <a16:creationId xmlns:a16="http://schemas.microsoft.com/office/drawing/2014/main" id="{3FD9E45C-56F2-447D-83B7-8ECE9DD61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227513"/>
            <a:ext cx="419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70" name="直接箭头连接符 10">
            <a:extLst>
              <a:ext uri="{FF2B5EF4-FFF2-40B4-BE49-F238E27FC236}">
                <a16:creationId xmlns:a16="http://schemas.microsoft.com/office/drawing/2014/main" id="{52B5E416-9FF3-4301-8D70-77CF948BA541}"/>
              </a:ext>
            </a:extLst>
          </p:cNvPr>
          <p:cNvCxnSpPr>
            <a:cxnSpLocks noChangeShapeType="1"/>
            <a:stCxn id="44" idx="5"/>
            <a:endCxn id="42" idx="0"/>
          </p:cNvCxnSpPr>
          <p:nvPr/>
        </p:nvCxnSpPr>
        <p:spPr bwMode="auto">
          <a:xfrm>
            <a:off x="5405438" y="5124450"/>
            <a:ext cx="160337" cy="3032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1" name="文本框 8">
            <a:extLst>
              <a:ext uri="{FF2B5EF4-FFF2-40B4-BE49-F238E27FC236}">
                <a16:creationId xmlns:a16="http://schemas.microsoft.com/office/drawing/2014/main" id="{B40E3C48-8AD0-4729-8E39-DBE8C18E3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5083175"/>
            <a:ext cx="420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72" name="图片 69">
            <a:extLst>
              <a:ext uri="{FF2B5EF4-FFF2-40B4-BE49-F238E27FC236}">
                <a16:creationId xmlns:a16="http://schemas.microsoft.com/office/drawing/2014/main" id="{0F5F16C4-3A0B-4B30-9CD4-C647E2DD9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190625"/>
            <a:ext cx="3384550" cy="264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573" name="直接箭头连接符 10">
            <a:extLst>
              <a:ext uri="{FF2B5EF4-FFF2-40B4-BE49-F238E27FC236}">
                <a16:creationId xmlns:a16="http://schemas.microsoft.com/office/drawing/2014/main" id="{D2C8EEA2-DB33-425E-B969-21BD69A79CF9}"/>
              </a:ext>
            </a:extLst>
          </p:cNvPr>
          <p:cNvCxnSpPr>
            <a:cxnSpLocks noChangeShapeType="1"/>
            <a:stCxn id="44" idx="6"/>
            <a:endCxn id="50" idx="3"/>
          </p:cNvCxnSpPr>
          <p:nvPr/>
        </p:nvCxnSpPr>
        <p:spPr bwMode="auto">
          <a:xfrm flipV="1">
            <a:off x="5483225" y="4464050"/>
            <a:ext cx="1866900" cy="4889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4" name="文本框 14">
            <a:extLst>
              <a:ext uri="{FF2B5EF4-FFF2-40B4-BE49-F238E27FC236}">
                <a16:creationId xmlns:a16="http://schemas.microsoft.com/office/drawing/2014/main" id="{191048B2-D83F-41A0-9F22-66DD34CEF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313" y="4708525"/>
            <a:ext cx="4095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75" name="图片 74">
            <a:extLst>
              <a:ext uri="{FF2B5EF4-FFF2-40B4-BE49-F238E27FC236}">
                <a16:creationId xmlns:a16="http://schemas.microsoft.com/office/drawing/2014/main" id="{B37B8D4B-B42C-4781-95D4-E62AA31CA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90625"/>
            <a:ext cx="3232150" cy="264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576" name="直接箭头连接符 10">
            <a:extLst>
              <a:ext uri="{FF2B5EF4-FFF2-40B4-BE49-F238E27FC236}">
                <a16:creationId xmlns:a16="http://schemas.microsoft.com/office/drawing/2014/main" id="{2249D3FE-15F5-4BAB-8D77-3232B0448FE7}"/>
              </a:ext>
            </a:extLst>
          </p:cNvPr>
          <p:cNvCxnSpPr>
            <a:cxnSpLocks noChangeShapeType="1"/>
            <a:stCxn id="23" idx="3"/>
            <a:endCxn id="32" idx="7"/>
          </p:cNvCxnSpPr>
          <p:nvPr/>
        </p:nvCxnSpPr>
        <p:spPr bwMode="auto">
          <a:xfrm flipH="1">
            <a:off x="1795463" y="4576763"/>
            <a:ext cx="509587" cy="11064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7" name="文本框 8">
            <a:extLst>
              <a:ext uri="{FF2B5EF4-FFF2-40B4-BE49-F238E27FC236}">
                <a16:creationId xmlns:a16="http://schemas.microsoft.com/office/drawing/2014/main" id="{4D594BCA-D9E9-4B35-97B8-249FDFBDF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650" y="4568825"/>
            <a:ext cx="4413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78" name="直接箭头连接符 10">
            <a:extLst>
              <a:ext uri="{FF2B5EF4-FFF2-40B4-BE49-F238E27FC236}">
                <a16:creationId xmlns:a16="http://schemas.microsoft.com/office/drawing/2014/main" id="{3967E100-9D5D-429E-B833-FF1B8BC35251}"/>
              </a:ext>
            </a:extLst>
          </p:cNvPr>
          <p:cNvCxnSpPr>
            <a:cxnSpLocks noChangeShapeType="1"/>
            <a:stCxn id="25" idx="2"/>
            <a:endCxn id="22" idx="6"/>
          </p:cNvCxnSpPr>
          <p:nvPr/>
        </p:nvCxnSpPr>
        <p:spPr bwMode="auto">
          <a:xfrm flipH="1" flipV="1">
            <a:off x="1795463" y="4956175"/>
            <a:ext cx="1495425" cy="301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9" name="文本框 8">
            <a:extLst>
              <a:ext uri="{FF2B5EF4-FFF2-40B4-BE49-F238E27FC236}">
                <a16:creationId xmlns:a16="http://schemas.microsoft.com/office/drawing/2014/main" id="{4AC3B2E4-6BD6-4A13-BC37-D5ABE216E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5075" y="4722813"/>
            <a:ext cx="442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文本框 7">
            <a:extLst>
              <a:ext uri="{FF2B5EF4-FFF2-40B4-BE49-F238E27FC236}">
                <a16:creationId xmlns:a16="http://schemas.microsoft.com/office/drawing/2014/main" id="{C141AE8A-47E5-412E-8A93-94C47DD29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41438"/>
            <a:ext cx="7560766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现在有一个飞机制造商，它在</a:t>
            </a:r>
            <a:r>
              <a:rPr lang="en-US" altLang="zh-CN" sz="1600" dirty="0">
                <a:latin typeface="+mn-ea"/>
                <a:ea typeface="+mn-ea"/>
              </a:rPr>
              <a:t>n</a:t>
            </a:r>
            <a:r>
              <a:rPr lang="zh-CN" altLang="en-US" sz="1600" dirty="0">
                <a:latin typeface="+mn-ea"/>
                <a:ea typeface="+mn-ea"/>
              </a:rPr>
              <a:t>天里每天都要生产一架飞机。如果第</a:t>
            </a:r>
            <a:r>
              <a:rPr lang="en-US" altLang="zh-CN" sz="1600" dirty="0" err="1">
                <a:latin typeface="+mn-ea"/>
                <a:ea typeface="+mn-ea"/>
              </a:rPr>
              <a:t>i</a:t>
            </a:r>
            <a:r>
              <a:rPr lang="zh-CN" altLang="en-US" sz="1600" dirty="0">
                <a:latin typeface="+mn-ea"/>
                <a:ea typeface="+mn-ea"/>
              </a:rPr>
              <a:t>架飞机生产后没有售出，则每滞留一天都要消耗</a:t>
            </a:r>
            <a:r>
              <a:rPr lang="en-US" altLang="zh-CN" sz="1600" dirty="0">
                <a:latin typeface="+mn-ea"/>
                <a:ea typeface="+mn-ea"/>
              </a:rPr>
              <a:t>c​</a:t>
            </a:r>
            <a:r>
              <a:rPr lang="zh-CN" altLang="en-US" sz="1600" dirty="0">
                <a:latin typeface="+mn-ea"/>
                <a:ea typeface="+mn-ea"/>
              </a:rPr>
              <a:t>的存储成本</a:t>
            </a:r>
            <a:r>
              <a:rPr lang="en-US" altLang="zh-CN" sz="1600" dirty="0">
                <a:latin typeface="+mn-ea"/>
                <a:ea typeface="+mn-ea"/>
              </a:rPr>
              <a:t>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由于贸易战等影响，前</a:t>
            </a:r>
            <a:r>
              <a:rPr lang="en-US" altLang="zh-CN" sz="1600" dirty="0">
                <a:latin typeface="+mn-ea"/>
                <a:ea typeface="+mn-ea"/>
              </a:rPr>
              <a:t>m</a:t>
            </a:r>
            <a:r>
              <a:rPr lang="zh-CN" altLang="en-US" sz="1600" dirty="0">
                <a:latin typeface="+mn-ea"/>
                <a:ea typeface="+mn-ea"/>
              </a:rPr>
              <a:t>天都无法出售任何飞机，但是飞机制造商依然会生产飞机，之后的每天中，都能恰好售出当前已经生产好的一架飞机，那么在第</a:t>
            </a:r>
            <a:r>
              <a:rPr lang="en-US" altLang="zh-CN" sz="1600" dirty="0" err="1">
                <a:latin typeface="+mn-ea"/>
                <a:ea typeface="+mn-ea"/>
              </a:rPr>
              <a:t>n+m</a:t>
            </a:r>
            <a:r>
              <a:rPr lang="zh-CN" altLang="en-US" sz="1600" dirty="0">
                <a:latin typeface="+mn-ea"/>
                <a:ea typeface="+mn-ea"/>
              </a:rPr>
              <a:t>天后</a:t>
            </a:r>
            <a:r>
              <a:rPr lang="en-US" altLang="zh-CN" sz="1600" dirty="0">
                <a:latin typeface="+mn-ea"/>
                <a:ea typeface="+mn-ea"/>
              </a:rPr>
              <a:t>,</a:t>
            </a:r>
            <a:r>
              <a:rPr lang="zh-CN" altLang="en-US" sz="1600" dirty="0">
                <a:latin typeface="+mn-ea"/>
                <a:ea typeface="+mn-ea"/>
              </a:rPr>
              <a:t>就能把所有的飞机全部出售。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现在请你计算出，在多种出售顺序中，飞机制造商存储成本之和最低的需要多少？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415B72-B354-4AE9-966B-977FBA0C7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60" y="4902142"/>
            <a:ext cx="3553478" cy="13086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5D779F-FC21-4A75-A07B-F3F9F5C0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511491"/>
            <a:ext cx="3257550" cy="13906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C8A524-7B8A-4575-9A6F-3BC70D0E2F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089"/>
          <a:stretch/>
        </p:blipFill>
        <p:spPr>
          <a:xfrm>
            <a:off x="3933897" y="3501008"/>
            <a:ext cx="4598544" cy="12382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342ACED-98D1-4462-8CB9-A965D468E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928" y="4649401"/>
            <a:ext cx="3375284" cy="1561356"/>
          </a:xfrm>
          <a:prstGeom prst="rect">
            <a:avLst/>
          </a:prstGeom>
        </p:spPr>
      </p:pic>
      <p:sp>
        <p:nvSpPr>
          <p:cNvPr id="10" name="文本框 7">
            <a:extLst>
              <a:ext uri="{FF2B5EF4-FFF2-40B4-BE49-F238E27FC236}">
                <a16:creationId xmlns:a16="http://schemas.microsoft.com/office/drawing/2014/main" id="{B320B3EF-2DC2-4DDC-BB4E-2B51E1DE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49" y="3177232"/>
            <a:ext cx="3257549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</a:rPr>
              <a:t>输入放在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ea typeface="+mn-ea"/>
              </a:rPr>
              <a:t>txt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</a:rPr>
              <a:t>文本中，读取输入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298096E6-201A-43CD-9FEF-B0BCD1CCC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第十一次实验</a:t>
            </a:r>
          </a:p>
        </p:txBody>
      </p:sp>
    </p:spTree>
    <p:extLst>
      <p:ext uri="{BB962C8B-B14F-4D97-AF65-F5344CB8AC3E}">
        <p14:creationId xmlns:p14="http://schemas.microsoft.com/office/powerpoint/2010/main" val="375743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72F04AC9-1536-461D-ADBD-18A5D72FB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571500"/>
            <a:ext cx="497522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第十二次实验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94316E-E443-407B-A2BB-ECA60B83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33488"/>
            <a:ext cx="8529657" cy="16095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097133A-9B1C-4D71-AC5F-EBE738222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47" y="3360862"/>
            <a:ext cx="3320487" cy="14573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C2A0CFA-5D84-4C97-A1FE-A7EFAF697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59" y="4847673"/>
            <a:ext cx="3497295" cy="1438827"/>
          </a:xfrm>
          <a:prstGeom prst="rect">
            <a:avLst/>
          </a:prstGeom>
        </p:spPr>
      </p:pic>
      <p:sp>
        <p:nvSpPr>
          <p:cNvPr id="17" name="文本框 7">
            <a:extLst>
              <a:ext uri="{FF2B5EF4-FFF2-40B4-BE49-F238E27FC236}">
                <a16:creationId xmlns:a16="http://schemas.microsoft.com/office/drawing/2014/main" id="{4BA109F5-6DBB-4EF8-B12A-FC34DF247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2504525"/>
            <a:ext cx="486003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</a:rPr>
              <a:t>并展示</a:t>
            </a:r>
            <a:r>
              <a:rPr lang="zh-CN" altLang="en-US" sz="1600" b="1">
                <a:solidFill>
                  <a:srgbClr val="FF0000"/>
                </a:solidFill>
                <a:latin typeface="+mn-ea"/>
                <a:ea typeface="+mn-ea"/>
              </a:rPr>
              <a:t>拆除过程</a:t>
            </a:r>
            <a:endParaRPr lang="zh-CN" altLang="en-US" sz="16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3284CBA-C753-4F06-8F20-E98DF2448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55" y="3365013"/>
            <a:ext cx="3727326" cy="151893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B4DF6D3-DD11-4352-98A6-5B27434EB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877" y="4800048"/>
            <a:ext cx="44577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7391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9775</TotalTime>
  <Words>294</Words>
  <Application>Microsoft Office PowerPoint</Application>
  <PresentationFormat>全屏显示(4:3)</PresentationFormat>
  <Paragraphs>52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华文楷体</vt:lpstr>
      <vt:lpstr>Arial</vt:lpstr>
      <vt:lpstr>Arial Black</vt:lpstr>
      <vt:lpstr>Times New Roman</vt:lpstr>
      <vt:lpstr>Wingdings</vt:lpstr>
      <vt:lpstr>Pixel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Jetstep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软件技能训练</dc:title>
  <dc:creator>wben</dc:creator>
  <cp:lastModifiedBy>Qiangguo Jin</cp:lastModifiedBy>
  <cp:revision>1073</cp:revision>
  <dcterms:created xsi:type="dcterms:W3CDTF">2008-09-12T02:21:48Z</dcterms:created>
  <dcterms:modified xsi:type="dcterms:W3CDTF">2026-09-04T00:46:34Z</dcterms:modified>
</cp:coreProperties>
</file>