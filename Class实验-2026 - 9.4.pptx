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  <p:sldMasterId id="2147483935" r:id="rId2"/>
  </p:sldMasterIdLst>
  <p:notesMasterIdLst>
    <p:notesMasterId r:id="rId16"/>
  </p:notesMasterIdLst>
  <p:handoutMasterIdLst>
    <p:handoutMasterId r:id="rId17"/>
  </p:handoutMasterIdLst>
  <p:sldIdLst>
    <p:sldId id="256" r:id="rId3"/>
    <p:sldId id="426" r:id="rId4"/>
    <p:sldId id="548" r:id="rId5"/>
    <p:sldId id="488" r:id="rId6"/>
    <p:sldId id="491" r:id="rId7"/>
    <p:sldId id="502" r:id="rId8"/>
    <p:sldId id="503" r:id="rId9"/>
    <p:sldId id="519" r:id="rId10"/>
    <p:sldId id="484" r:id="rId11"/>
    <p:sldId id="504" r:id="rId12"/>
    <p:sldId id="505" r:id="rId13"/>
    <p:sldId id="510" r:id="rId14"/>
    <p:sldId id="511" r:id="rId1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4B25996-56D8-4548-ADD0-31F23E224FC3}">
          <p14:sldIdLst>
            <p14:sldId id="256"/>
            <p14:sldId id="426"/>
            <p14:sldId id="548"/>
          </p14:sldIdLst>
        </p14:section>
        <p14:section name="2026.9.4" id="{41FBA98B-9CF6-4D9B-A77F-F8F2AA95399E}">
          <p14:sldIdLst>
            <p14:sldId id="488"/>
            <p14:sldId id="491"/>
            <p14:sldId id="502"/>
            <p14:sldId id="503"/>
            <p14:sldId id="519"/>
            <p14:sldId id="484"/>
            <p14:sldId id="504"/>
            <p14:sldId id="505"/>
            <p14:sldId id="510"/>
            <p14:sldId id="511"/>
          </p14:sldIdLst>
        </p14:section>
        <p14:section name="2026.9.5" id="{3AB79C25-8D83-44E8-B1F1-95ABF6C0986E}">
          <p14:sldIdLst/>
        </p14:section>
        <p14:section name="2026.9.6" id="{5B11A9A5-40E2-43B1-807B-397E629341B7}">
          <p14:sldIdLst/>
        </p14:section>
        <p14:section name="2026.9.7" id="{959D3B66-1793-43E8-988B-73E6FD45DF8B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 Qiangguo" initials="" lastIdx="2" clrIdx="0"/>
  <p:cmAuthor id="2" name="未知用户1" initials="未知用户1" lastIdx="2" clrIdx="1"/>
  <p:cmAuthor id="3" name="Jin Qiangguo" initials="JQ" lastIdx="1" clrIdx="2">
    <p:extLst>
      <p:ext uri="{19B8F6BF-5375-455C-9EA6-DF929625EA0E}">
        <p15:presenceInfo xmlns:p15="http://schemas.microsoft.com/office/powerpoint/2012/main" userId="493a736e5562a2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CC"/>
    <a:srgbClr val="DCF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39" autoAdjust="0"/>
    <p:restoredTop sz="86441" autoAdjust="0"/>
  </p:normalViewPr>
  <p:slideViewPr>
    <p:cSldViewPr>
      <p:cViewPr varScale="1">
        <p:scale>
          <a:sx n="90" d="100"/>
          <a:sy n="90" d="100"/>
        </p:scale>
        <p:origin x="200" y="19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3012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55C9744-349E-413E-B870-0DB18FE7A3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97F6E8-4CDC-4777-91BC-1616BCAFEBE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9349ABDB-413D-4415-B228-5019F4A5C822}" type="datetimeFigureOut">
              <a:rPr lang="zh-CN" altLang="en-US"/>
              <a:pPr>
                <a:defRPr/>
              </a:pPr>
              <a:t>2026/9/16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067766-2FF7-4CAF-AF75-5238F567F1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5A8C58-6027-47CE-8EBB-21F2F147A4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4F693DC-6886-4B51-ABFD-F6C9B5DBC3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C59C60E-2A2F-4834-A8D9-5DC8E4F9BE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60DE3F-D7A4-46FA-9AF2-D07213D433D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1D92AEC-EA0D-4C81-9C01-4825A6CC05B4}" type="datetimeFigureOut">
              <a:rPr lang="zh-CN" altLang="en-US"/>
              <a:pPr>
                <a:defRPr/>
              </a:pPr>
              <a:t>2026/9/16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87F0B237-4979-447D-8753-D0897E373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D2ECB030-99D3-4E35-B652-E62AF89DD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AD8A22-9D51-4D82-BF79-D2D3EF6EA2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3A5C2B-7B69-4E4D-9627-A127C2EB5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643848F-110F-44C7-9E20-1C57F222086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69EE50A1-6B87-4DC6-8D61-3D4C4EEF708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781BE3CE-35EF-42FB-86CE-104AA5221AF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1E6CE0BF-C8EB-43EC-A3EB-5F6EBB9520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303ADC0-6005-4B6E-AB55-BA33EB093DCD}" type="slidenum">
              <a:rPr lang="en-US" altLang="zh-CN" smtClean="0">
                <a:solidFill>
                  <a:srgbClr val="000000"/>
                </a:solidFill>
              </a:rPr>
              <a:pPr eaLnBrk="1" hangingPunct="1"/>
              <a:t>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D8ABBC40-B25B-4999-BA7C-9DC11A8845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A248E3FD-96C4-4BC7-B6AE-16C1018134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中等难度</a:t>
            </a: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5AE1AAED-76FF-4BE0-B65D-B0BA330D0C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8C3672-E45A-474B-A772-BB586E0ECFAE}" type="slidenum">
              <a:rPr lang="zh-CN" altLang="en-US" smtClean="0">
                <a:solidFill>
                  <a:srgbClr val="000000"/>
                </a:solidFill>
              </a:rPr>
              <a:pPr/>
              <a:t>6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663BCB32-89A3-4DC2-825A-1677A0AC7B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581B97C7-7F5F-473C-A0BA-D67B9082A8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中等难度</a:t>
            </a:r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107A4D96-0B52-4061-AB13-71AEC09B39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C24F443-CE0A-4A49-BAAD-112688133488}" type="slidenum">
              <a:rPr lang="zh-CN" altLang="en-US" smtClean="0">
                <a:solidFill>
                  <a:srgbClr val="000000"/>
                </a:solidFill>
              </a:rPr>
              <a:pPr/>
              <a:t>7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5E2C0372-91E1-4887-8DB2-F3A79072D2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F2FD5D59-03C1-4AC3-9171-37CBB8C18A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简单难度</a:t>
            </a:r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D857DA83-E429-4F01-9350-10A5A4699B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6BE14F8-DF38-4946-963D-9B6BEDF3E57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413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A66E787B-36B4-4CEF-8642-B64D32634746}"/>
              </a:ext>
            </a:extLst>
          </p:cNvPr>
          <p:cNvGrpSpPr>
            <a:grpSpLocks/>
          </p:cNvGrpSpPr>
          <p:nvPr/>
        </p:nvGrpSpPr>
        <p:grpSpPr bwMode="auto">
          <a:xfrm>
            <a:off x="1658938" y="1600200"/>
            <a:ext cx="6837362" cy="3200400"/>
            <a:chOff x="1045" y="1008"/>
            <a:chExt cx="4307" cy="2016"/>
          </a:xfrm>
        </p:grpSpPr>
        <p:sp>
          <p:nvSpPr>
            <p:cNvPr id="5" name="Oval 3">
              <a:extLst>
                <a:ext uri="{FF2B5EF4-FFF2-40B4-BE49-F238E27FC236}">
                  <a16:creationId xmlns:a16="http://schemas.microsoft.com/office/drawing/2014/main" id="{14E8D930-7D69-4C74-B353-F89C17B3599D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4392" y="1008"/>
              <a:ext cx="960" cy="9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5F9FA6B4-491A-49D7-8C0B-13B763823C4A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3264" y="1008"/>
              <a:ext cx="960" cy="9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91A556A6-AA7A-45BB-8749-E94BD1C5A701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2136" y="1008"/>
              <a:ext cx="960" cy="96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14198489-E60F-4D90-9B4D-507C2BF90155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2136" y="2064"/>
              <a:ext cx="960" cy="9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53CF4465-0367-4522-BA1D-09875683E028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1045" y="2064"/>
              <a:ext cx="960" cy="9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392D0EDA-53CB-4712-A42B-DBDB77D8424C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4392" y="2064"/>
              <a:ext cx="960" cy="96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11" name="Picture 14" descr="nwpu_r1_c1">
            <a:extLst>
              <a:ext uri="{FF2B5EF4-FFF2-40B4-BE49-F238E27FC236}">
                <a16:creationId xmlns:a16="http://schemas.microsoft.com/office/drawing/2014/main" id="{0C670664-8FDC-4845-8358-A41834514C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2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685800" y="1219200"/>
            <a:ext cx="7772400" cy="1933575"/>
          </a:xfrm>
        </p:spPr>
        <p:txBody>
          <a:bodyPr anchor="b"/>
          <a:lstStyle>
            <a:lvl1pPr algn="r">
              <a:defRPr sz="4400" b="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1162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05200"/>
            <a:ext cx="6400800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CDC75790-D245-40DB-9293-B92DDC20B1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E976B277-2A11-401D-BECA-1C3BA35B47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828C6799-FB6B-44DE-830C-969EAB0057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BF665A-7E2A-494F-A854-A89FA849ED4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24346640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50FC97AC-FDB2-4857-9704-2885EEC1A0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31382713-A8C5-4724-8D1E-CF3EDC02CD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D4926A0A-FC9F-483D-8C89-7CA1CC5FF8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62638-6F79-452D-92B6-0835D8A5E45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6988221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776473BB-2490-4296-811A-2EE4EF803E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3E63157B-7D98-42A9-A930-B7DAEABE47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2BEF5C7F-620B-4107-A12A-DFAD8A4213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4550C6-65CC-43AC-9381-95ECAECA987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74503506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96975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403860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B1420D0-E35E-46F8-B63E-5B305DBF94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C0DD68E-EF6F-4EA8-B027-CE53C98065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4E2CB2F7-C34A-44C1-9B14-374EB0E1E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559432-8ABD-4EA7-885C-42621219AAF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2330441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F538CB82-67F1-43A5-802D-D420FE717E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8C1FDA8B-0175-4E3F-9444-1C9A61EA91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EE297CA0-2F92-4BD7-BB53-1865DCC96E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24623-3A6A-4F98-B3E5-B4EB32A3A04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22785434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EDC65F9D-DE51-4E31-9D36-A04EE2990B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6209D3E4-802F-4D50-973D-0D997CF118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B24B495-A9C3-4F00-AD09-F6223372DB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01C0A9-1126-479F-934E-065C48B56FC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02711904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CFA3D8F0-7EC9-4E67-8B37-DB7674F22D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68AE739F-0C51-4E6E-8DE6-EE4394C541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B7F0D4B-3E7B-46C8-B47F-C08DD5D926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5EE74-2B29-42F6-9D70-7D25C0B5E2C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10878047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A6B27928-72D6-4AD2-81F2-C3C045853B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F79E117-D166-4C1D-9FE7-6DFCAE66D1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E1E6673B-2FEB-40DE-AD2A-AF347F797C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64DD24-DC6F-488E-9FE8-C4D46510802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14688247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EC84CEFD-4A2D-44E8-A71B-82F8394211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54898456-F516-4E27-B563-F18925EBC5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59787A84-ABC6-46B1-BAFB-48624BC660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A5796-FCB4-4132-AC6C-CB2E0CFDD59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96238637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5DCE83DC-E3F4-453D-9658-87DBE96A9C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32BD8BDE-C7F1-4B31-A748-82B29CEE68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99DBA89A-CD45-4951-B1EC-C2EA932137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03E8A8-D6A7-453E-A333-2FF443D4BB6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6793076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5888"/>
            <a:ext cx="2057400" cy="61928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5888"/>
            <a:ext cx="6019800" cy="61928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DAB4DA53-FC80-44F2-AAA7-76172E1DEB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BEC9B9CE-0C7B-4FD5-ACD7-B09CDA0205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020E5D12-8BD8-429D-8AFF-CED71FFC38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6782E-0515-4AFE-8D8F-B0F6222EF3A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68851431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10096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96975"/>
            <a:ext cx="4038600" cy="5111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4038600" cy="5111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CEB286F5-65BE-4569-A5A4-50E181BFBD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EA49AA2-0EF6-44B8-AF16-1AA77BEDE5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08209D5-4918-43D3-ADA2-F2ADBF54F8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D39171-D1B7-4539-9606-7229CE85309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4434829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7258F29-0D77-40BB-97F9-38991F4B473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824B1161-3554-43A1-A18A-03417CA384CD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F122D31D-B629-434D-B68E-21277B6A9CF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98B90D81-7EA4-4C4B-A3F8-5F0D2E28C0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F3F07E82-128B-4971-A841-70C35FCCF1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C3382E11-926D-4F71-A18D-F63A3B8DD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30A12B13-EF73-4C98-AD3F-3D1655EFD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D78F2E99-4DF6-4909-B447-B891B8B4F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DC90BFC0-F52E-4329-95C7-671B94113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5DC42993-C56D-4CED-87D3-B460E0382A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B8F6BD2D-63B8-41D9-B5A9-41A4802E1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9F278468-112E-4EFA-9223-9B196F579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3E24C4D8-1BDC-4BF7-9889-C6B1C99613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1E5920B7-9983-41E2-ABB9-48F261E1B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 sz="2400" b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C82D61A9-8874-4326-91B9-8A1D6E0293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3D26B-7845-4206-94BA-1BF51BC6AD63}" type="datetime1">
              <a:rPr lang="zh-CN" altLang="en-US"/>
              <a:pPr>
                <a:defRPr/>
              </a:pPr>
              <a:t>2026/9/16</a:t>
            </a:fld>
            <a:endParaRPr lang="en-US" altLang="zh-CN" dirty="0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E421A917-E582-4F15-B6BE-00DEC2D3E1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58E9ED40-5663-4AFC-B111-14DA954C7A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52A230-7B77-4E74-A939-5292C475FAA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20900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3EE73D9-5AF6-403E-B65A-AD102B4D810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0B98B82-39BA-498C-A48A-F086D8B07EE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6D1D-302C-47C1-BC3E-63700714371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54D4E2D7-1AEC-489E-959F-4B888D61D06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A847E-C187-401A-83E6-B3E23E981E1F}" type="datetime1">
              <a:rPr lang="zh-CN" altLang="en-US"/>
              <a:pPr>
                <a:defRPr/>
              </a:pPr>
              <a:t>2026/9/16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5067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2DBDA19-8F42-4BFE-8DB7-327E6581B9E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1183639-59FB-44E9-846D-FA4890994EA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C6D2EF-AA78-438A-89A5-AEF1427F269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5B6B62C-98D5-46CF-A2B2-D046F8B1163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AF032-AE62-4C18-A6B4-A0962967D2E1}" type="datetime1">
              <a:rPr lang="zh-CN" altLang="en-US"/>
              <a:pPr>
                <a:defRPr/>
              </a:pPr>
              <a:t>2026/9/16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8018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6FBF1C2-1607-45CB-880E-F5A9AF8A937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213EFA5-8242-410E-8564-4D8B4CD4B97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53537-2EE3-4284-BC1C-A4B242C8804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B1033972-9C2F-4B83-ADE3-E0771FD2D30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34FE6-1408-4B1A-9D67-0B80D046833A}" type="datetime1">
              <a:rPr lang="zh-CN" altLang="en-US"/>
              <a:pPr>
                <a:defRPr/>
              </a:pPr>
              <a:t>2026/9/16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306464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5B2E874-A748-445B-B534-7FEDB39DD2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68C1BA7-D0AD-41F1-9FC2-4EBBB2F70A6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9F5AB-CAC2-4D6E-BF22-0AEB164BD7C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16119AAB-3AA5-44D1-8953-279913AEBA8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6AB8AB-A87C-4699-B896-959A1B2C97F8}" type="datetime1">
              <a:rPr lang="zh-CN" altLang="en-US"/>
              <a:pPr>
                <a:defRPr/>
              </a:pPr>
              <a:t>2026/9/16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86935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E93C18-B789-4BBB-B6C2-FDD4A24E38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4AE414-A471-4194-B703-8587AC1FED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263F17-F463-48D8-8545-D649C23B23B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1C545C92-759A-4452-A9C5-3FC82B9E978D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1985F4-C759-4239-97E4-3CE1543BEDC2}" type="datetime1">
              <a:rPr lang="zh-CN" altLang="en-US"/>
              <a:pPr>
                <a:defRPr/>
              </a:pPr>
              <a:t>2026/9/16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19583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17921E6-FD28-4ADB-9BB5-F782DF429E6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C3B9922-ECE4-42F6-80CD-2EC09821FE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72E19-3A1E-45B0-9959-2FC15A9CC7D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76EEBB04-72A2-426B-ABF0-272B18876E3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692AD-E172-4795-BB02-75B86F3408EE}" type="datetime1">
              <a:rPr lang="zh-CN" altLang="en-US"/>
              <a:pPr>
                <a:defRPr/>
              </a:pPr>
              <a:t>2026/9/16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94066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BFB4BD3-C969-4C56-AE02-778DB1982C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2693B39-028B-4F16-9D47-8B92C8E5D40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2D1CD-2636-45D2-9140-2DCF8EA0235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C10D91EE-5058-4ADB-B34A-B8DEB01B3AA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8BF18-339C-47A1-A1D5-EDA5B48C2568}" type="datetime1">
              <a:rPr lang="zh-CN" altLang="en-US"/>
              <a:pPr>
                <a:defRPr/>
              </a:pPr>
              <a:t>2026/9/16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11640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A5025E-6758-44F4-8A4F-554DD228434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EEBC1E7-146C-48E7-967E-801000D9360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8EFAAB-EDCA-4FF7-8FB0-4D8391F700F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BB7ED2E9-42E1-41EF-B72A-AAFDDB667BA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6A1F43-C38E-4E0B-9CDE-8C873DF023EB}" type="datetime1">
              <a:rPr lang="zh-CN" altLang="en-US"/>
              <a:pPr>
                <a:defRPr/>
              </a:pPr>
              <a:t>2026/9/16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72509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23AEEF2-8604-492C-B8DD-A22AAE2CC6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7171A5B-431C-412A-AB31-96E12CE5AE9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2A24F3-5CB2-4B18-A664-AA945A132C9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47FEF826-E004-4600-810E-B29DFDED60F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FDDB3-73A6-4BEA-8E61-14C8895B99B5}" type="datetime1">
              <a:rPr lang="zh-CN" altLang="en-US"/>
              <a:pPr>
                <a:defRPr/>
              </a:pPr>
              <a:t>2026/9/16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389052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6144F43-F8F8-4F90-B2A8-5682C9386A0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55B4F61-0E2C-4237-A4C3-2B5D8FA38A8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D3B241-525B-467A-A8BC-40BC70B8388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0DE2F7C6-13C0-4A2B-AA8B-4764DAB04D3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5D0DE4-698F-4566-8C76-33D985142E8D}" type="datetime1">
              <a:rPr lang="zh-CN" altLang="en-US"/>
              <a:pPr>
                <a:defRPr/>
              </a:pPr>
              <a:t>2026/9/16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469005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F29593-A437-4BB0-BCFF-AE0446EEBD7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12143E2-044C-4E2F-AC12-3F5BF26A77F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777C94-C194-4688-9417-7C2B0122F89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5F672015-AC19-4750-9296-3B01AF08493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34252-6554-4543-A1F3-EEF4A3C55F15}" type="datetime1">
              <a:rPr lang="zh-CN" altLang="en-US"/>
              <a:pPr>
                <a:defRPr/>
              </a:pPr>
              <a:t>2026/9/16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98092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2A55A691-2FFF-4D09-A08F-00F0DFD3CFF1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90488"/>
            <a:ext cx="7615237" cy="1106487"/>
            <a:chOff x="675" y="192"/>
            <a:chExt cx="4797" cy="697"/>
          </a:xfrm>
        </p:grpSpPr>
        <p:sp>
          <p:nvSpPr>
            <p:cNvPr id="1033" name="Oval 3">
              <a:extLst>
                <a:ext uri="{FF2B5EF4-FFF2-40B4-BE49-F238E27FC236}">
                  <a16:creationId xmlns:a16="http://schemas.microsoft.com/office/drawing/2014/main" id="{366EF893-90DA-4A6D-B5E4-358881B1D37B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3067" y="192"/>
              <a:ext cx="696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Oval 4">
              <a:extLst>
                <a:ext uri="{FF2B5EF4-FFF2-40B4-BE49-F238E27FC236}">
                  <a16:creationId xmlns:a16="http://schemas.microsoft.com/office/drawing/2014/main" id="{B3A85553-F0BE-41E9-9925-00F397B31CFF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4777" y="192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5" name="Oval 5">
              <a:extLst>
                <a:ext uri="{FF2B5EF4-FFF2-40B4-BE49-F238E27FC236}">
                  <a16:creationId xmlns:a16="http://schemas.microsoft.com/office/drawing/2014/main" id="{7FC924DB-3072-4537-9F07-0B3976DAE043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675" y="193"/>
              <a:ext cx="695" cy="6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6" name="Oval 6">
              <a:extLst>
                <a:ext uri="{FF2B5EF4-FFF2-40B4-BE49-F238E27FC236}">
                  <a16:creationId xmlns:a16="http://schemas.microsoft.com/office/drawing/2014/main" id="{A5593E4D-5A62-49DC-A99F-96B5C5F0B024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3984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7" name="Oval 7">
              <a:extLst>
                <a:ext uri="{FF2B5EF4-FFF2-40B4-BE49-F238E27FC236}">
                  <a16:creationId xmlns:a16="http://schemas.microsoft.com/office/drawing/2014/main" id="{863380C0-B634-4190-AC00-3C257C47D46F}"/>
                </a:ext>
              </a:extLst>
            </p:cNvPr>
            <p:cNvSpPr>
              <a:spLocks noChangeArrowheads="1"/>
            </p:cNvSpPr>
            <p:nvPr/>
          </p:nvSpPr>
          <p:spPr bwMode="hidden">
            <a:xfrm flipH="1">
              <a:off x="1486" y="192"/>
              <a:ext cx="695" cy="69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1027" name="Rectangle 8">
            <a:extLst>
              <a:ext uri="{FF2B5EF4-FFF2-40B4-BE49-F238E27FC236}">
                <a16:creationId xmlns:a16="http://schemas.microsoft.com/office/drawing/2014/main" id="{3736B13C-7D39-448B-8E4C-F69DB58E65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6975"/>
            <a:ext cx="8229600" cy="511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0601" name="Rectangle 9">
            <a:extLst>
              <a:ext uri="{FF2B5EF4-FFF2-40B4-BE49-F238E27FC236}">
                <a16:creationId xmlns:a16="http://schemas.microsoft.com/office/drawing/2014/main" id="{D54F8E87-D96D-4098-8187-17B7046DF2F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602" name="Rectangle 10">
            <a:extLst>
              <a:ext uri="{FF2B5EF4-FFF2-40B4-BE49-F238E27FC236}">
                <a16:creationId xmlns:a16="http://schemas.microsoft.com/office/drawing/2014/main" id="{6BC36BA5-1EDC-469C-8D26-1F59DF5F484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603" name="Rectangle 11">
            <a:extLst>
              <a:ext uri="{FF2B5EF4-FFF2-40B4-BE49-F238E27FC236}">
                <a16:creationId xmlns:a16="http://schemas.microsoft.com/office/drawing/2014/main" id="{18D7C900-027A-42B3-B5A1-FB0F843A2E9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3D9720ED-27EE-45A4-B575-682D7D28B35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31" name="Rectangle 12">
            <a:extLst>
              <a:ext uri="{FF2B5EF4-FFF2-40B4-BE49-F238E27FC236}">
                <a16:creationId xmlns:a16="http://schemas.microsoft.com/office/drawing/2014/main" id="{BB72F282-FA70-43E0-B434-5BBDA0BB9F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888"/>
            <a:ext cx="82296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1032" name="Picture 13" descr="nwpu_r1_c1">
            <a:extLst>
              <a:ext uri="{FF2B5EF4-FFF2-40B4-BE49-F238E27FC236}">
                <a16:creationId xmlns:a16="http://schemas.microsoft.com/office/drawing/2014/main" id="{D7EF83C5-9606-4960-9B93-E4DA88C06F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27763"/>
            <a:ext cx="914400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26" r:id="rId1"/>
    <p:sldLayoutId id="2147484704" r:id="rId2"/>
    <p:sldLayoutId id="2147484705" r:id="rId3"/>
    <p:sldLayoutId id="2147484706" r:id="rId4"/>
    <p:sldLayoutId id="2147484707" r:id="rId5"/>
    <p:sldLayoutId id="2147484708" r:id="rId6"/>
    <p:sldLayoutId id="2147484709" r:id="rId7"/>
    <p:sldLayoutId id="2147484710" r:id="rId8"/>
    <p:sldLayoutId id="2147484711" r:id="rId9"/>
    <p:sldLayoutId id="2147484712" r:id="rId10"/>
    <p:sldLayoutId id="2147484713" r:id="rId11"/>
    <p:sldLayoutId id="2147484714" r:id="rId12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¡"/>
        <a:defRPr sz="27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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37D4063-5B4B-4B92-99E4-DCC03C0C469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/>
            </a:lvl1pPr>
          </a:lstStyle>
          <a:p>
            <a:pPr>
              <a:defRPr/>
            </a:pPr>
            <a:r>
              <a:rPr lang="en-US" altLang="zh-CN"/>
              <a:t>哈尔滨理工大学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8C5D444-782D-4FCF-B2C0-6E5D6D43A3E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0638BB31-92B5-4D00-BFD1-9E764D87775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grpSp>
        <p:nvGrpSpPr>
          <p:cNvPr id="2052" name="Group 4">
            <a:extLst>
              <a:ext uri="{FF2B5EF4-FFF2-40B4-BE49-F238E27FC236}">
                <a16:creationId xmlns:a16="http://schemas.microsoft.com/office/drawing/2014/main" id="{8F8FEC3C-A125-41DD-8DA5-3B6F9417D98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F3D00DB3-243E-4CCA-8C15-888FB88F8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59D91B85-34F1-4FAD-81EE-33927DA30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93B2A73E-8920-4CA2-964F-86747C9E3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E129C071-70DD-4B14-A166-7651255DB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7FFD4C6B-3B5F-4BB2-B7B3-1E9976421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3606EB29-7ADD-4152-BA17-00BC9E679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hlink"/>
                </a:solidFill>
              </a:endParaRPr>
            </a:p>
          </p:txBody>
        </p:sp>
        <p:sp>
          <p:nvSpPr>
            <p:cNvPr id="2" name="Rectangle 11">
              <a:extLst>
                <a:ext uri="{FF2B5EF4-FFF2-40B4-BE49-F238E27FC236}">
                  <a16:creationId xmlns:a16="http://schemas.microsoft.com/office/drawing/2014/main" id="{A57D59D4-62CC-42D4-AF25-4DE4CBD50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3" name="Rectangle 12">
              <a:extLst>
                <a:ext uri="{FF2B5EF4-FFF2-40B4-BE49-F238E27FC236}">
                  <a16:creationId xmlns:a16="http://schemas.microsoft.com/office/drawing/2014/main" id="{4A63D9E2-E581-4204-8539-AF43078D1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A9CF7C84-F517-4732-97FB-0236B48A8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b="0">
                <a:solidFill>
                  <a:schemeClr val="accent2"/>
                </a:solidFill>
              </a:endParaRPr>
            </a:p>
          </p:txBody>
        </p:sp>
      </p:grpSp>
      <p:sp>
        <p:nvSpPr>
          <p:cNvPr id="2053" name="Rectangle 14">
            <a:extLst>
              <a:ext uri="{FF2B5EF4-FFF2-40B4-BE49-F238E27FC236}">
                <a16:creationId xmlns:a16="http://schemas.microsoft.com/office/drawing/2014/main" id="{623FE00D-DD49-48B6-8127-2C810C7A605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4" name="Rectangle 15">
            <a:extLst>
              <a:ext uri="{FF2B5EF4-FFF2-40B4-BE49-F238E27FC236}">
                <a16:creationId xmlns:a16="http://schemas.microsoft.com/office/drawing/2014/main" id="{3960C295-A593-47C1-ABE0-FE6499A6911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12" name="Rectangle 16">
            <a:extLst>
              <a:ext uri="{FF2B5EF4-FFF2-40B4-BE49-F238E27FC236}">
                <a16:creationId xmlns:a16="http://schemas.microsoft.com/office/drawing/2014/main" id="{B149D34E-F4BE-476E-956A-3A3AE0F9E0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/>
            </a:lvl1pPr>
          </a:lstStyle>
          <a:p>
            <a:pPr>
              <a:defRPr/>
            </a:pPr>
            <a:fld id="{28DC0944-F550-44D5-9A14-50E700D62A1C}" type="datetime1">
              <a:rPr lang="zh-CN" altLang="en-US"/>
              <a:pPr>
                <a:defRPr/>
              </a:pPr>
              <a:t>2026/9/16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27" r:id="rId1"/>
    <p:sldLayoutId id="2147484715" r:id="rId2"/>
    <p:sldLayoutId id="2147484716" r:id="rId3"/>
    <p:sldLayoutId id="2147484717" r:id="rId4"/>
    <p:sldLayoutId id="2147484718" r:id="rId5"/>
    <p:sldLayoutId id="2147484719" r:id="rId6"/>
    <p:sldLayoutId id="2147484720" r:id="rId7"/>
    <p:sldLayoutId id="2147484721" r:id="rId8"/>
    <p:sldLayoutId id="2147484722" r:id="rId9"/>
    <p:sldLayoutId id="2147484723" r:id="rId10"/>
    <p:sldLayoutId id="2147484724" r:id="rId11"/>
    <p:sldLayoutId id="2147484725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unoob.com/cplusplus/cpp-tutorial.html" TargetMode="External"/><Relationship Id="rId2" Type="http://schemas.openxmlformats.org/officeDocument/2006/relationships/hyperlink" Target="https://www.runoob.com/cprogramming/c-tutorial.html" TargetMode="Externa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AF43CE8-08E1-4A67-AF2F-57408FAA3A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12875"/>
            <a:ext cx="7772400" cy="1019175"/>
          </a:xfrm>
        </p:spPr>
        <p:txBody>
          <a:bodyPr/>
          <a:lstStyle/>
          <a:p>
            <a:pPr algn="ctr" eaLnBrk="1" hangingPunct="1"/>
            <a:r>
              <a:rPr lang="zh-CN" altLang="en-US" b="1" dirty="0"/>
              <a:t>软件工程技术实验课</a:t>
            </a:r>
            <a:br>
              <a:rPr lang="en-US" altLang="zh-CN" b="1"/>
            </a:br>
            <a:r>
              <a:rPr lang="en-US" altLang="zh-CN" b="1"/>
              <a:t>(</a:t>
            </a:r>
            <a:r>
              <a:rPr lang="en-US" altLang="zh-CN" b="1" dirty="0"/>
              <a:t>C/C++</a:t>
            </a:r>
            <a:r>
              <a:rPr lang="zh-CN" altLang="en-US" b="1" dirty="0"/>
              <a:t>语言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5DE30D5-6E26-41FA-B1E9-74024FAC8B7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76375" y="4292600"/>
            <a:ext cx="6400800" cy="1752600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主讲：</a:t>
            </a:r>
            <a:endParaRPr lang="en-US" altLang="zh-CN" dirty="0"/>
          </a:p>
          <a:p>
            <a:pPr algn="ctr" eaLnBrk="1" hangingPunct="1"/>
            <a:r>
              <a:rPr lang="zh-CN" altLang="en-US" dirty="0"/>
              <a:t>西北工业大学软件学院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0505370-2CA1-46BA-ADE9-A6A5FE522E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475" y="571500"/>
            <a:ext cx="6624638" cy="661988"/>
          </a:xfrm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n"/>
            </a:pPr>
            <a:r>
              <a:rPr lang="zh-CN" altLang="en-US" sz="3200" b="1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讲在前面</a:t>
            </a:r>
          </a:p>
        </p:txBody>
      </p:sp>
      <p:sp>
        <p:nvSpPr>
          <p:cNvPr id="8197" name="矩形 1">
            <a:extLst>
              <a:ext uri="{FF2B5EF4-FFF2-40B4-BE49-F238E27FC236}">
                <a16:creationId xmlns:a16="http://schemas.microsoft.com/office/drawing/2014/main" id="{3D36FB19-7C4C-476F-BB6C-C78A17B2C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5" y="1341438"/>
            <a:ext cx="35607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课程规划</a:t>
            </a:r>
            <a:endParaRPr lang="zh-CN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198" name="文本框 3">
            <a:extLst>
              <a:ext uri="{FF2B5EF4-FFF2-40B4-BE49-F238E27FC236}">
                <a16:creationId xmlns:a16="http://schemas.microsoft.com/office/drawing/2014/main" id="{A927F616-5F59-4BE7-B59D-C8F882D8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864" y="1773238"/>
            <a:ext cx="590550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8</a:t>
            </a:r>
            <a:r>
              <a:rPr lang="zh-CN" altLang="en-US" sz="1800" dirty="0"/>
              <a:t>课时</a:t>
            </a:r>
            <a:r>
              <a:rPr lang="en-US" altLang="zh-CN" sz="1800" dirty="0"/>
              <a:t>/</a:t>
            </a:r>
            <a:r>
              <a:rPr lang="zh-CN" altLang="en-US" sz="1800" dirty="0"/>
              <a:t>天 * </a:t>
            </a:r>
            <a:r>
              <a:rPr lang="en-US" altLang="zh-CN" sz="1800" dirty="0">
                <a:solidFill>
                  <a:srgbClr val="FF0000"/>
                </a:solidFill>
              </a:rPr>
              <a:t>4</a:t>
            </a:r>
            <a:r>
              <a:rPr lang="zh-CN" altLang="en-US" sz="1800" dirty="0"/>
              <a:t>天 </a:t>
            </a:r>
            <a:r>
              <a:rPr lang="en-US" altLang="zh-CN" sz="1800" dirty="0"/>
              <a:t>= </a:t>
            </a:r>
            <a:r>
              <a:rPr lang="en-US" altLang="zh-CN" sz="1800" dirty="0">
                <a:solidFill>
                  <a:srgbClr val="FF0000"/>
                </a:solidFill>
              </a:rPr>
              <a:t>32</a:t>
            </a:r>
            <a:r>
              <a:rPr lang="zh-CN" altLang="en-US" sz="1800" dirty="0"/>
              <a:t>课时；</a:t>
            </a:r>
            <a:endParaRPr lang="en-US" altLang="zh-CN" sz="1800" dirty="0"/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1800" dirty="0"/>
              <a:t> 基础实践</a:t>
            </a:r>
            <a:r>
              <a:rPr lang="en-US" altLang="zh-CN" sz="1800" dirty="0"/>
              <a:t>+AI</a:t>
            </a:r>
            <a:r>
              <a:rPr lang="zh-CN" altLang="en-US" sz="1800" dirty="0"/>
              <a:t>进阶实践；</a:t>
            </a:r>
          </a:p>
        </p:txBody>
      </p:sp>
      <p:sp>
        <p:nvSpPr>
          <p:cNvPr id="8199" name="矩形 4">
            <a:extLst>
              <a:ext uri="{FF2B5EF4-FFF2-40B4-BE49-F238E27FC236}">
                <a16:creationId xmlns:a16="http://schemas.microsoft.com/office/drawing/2014/main" id="{0119CE8C-1A26-42DA-9AF7-8EE54D97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681288"/>
            <a:ext cx="35607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考核</a:t>
            </a:r>
            <a:endParaRPr lang="zh-CN" altLang="zh-CN" sz="24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95559E-6330-4269-95F7-AD9BC778CBB7}"/>
              </a:ext>
            </a:extLst>
          </p:cNvPr>
          <p:cNvSpPr txBox="1"/>
          <p:nvPr/>
        </p:nvSpPr>
        <p:spPr>
          <a:xfrm>
            <a:off x="1042864" y="3106738"/>
            <a:ext cx="3817168" cy="454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dirty="0"/>
              <a:t>平时成绩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20%</a:t>
            </a:r>
            <a:r>
              <a:rPr lang="en-US" altLang="zh-CN" dirty="0"/>
              <a:t>)+</a:t>
            </a:r>
            <a:r>
              <a:rPr lang="zh-CN" altLang="en-US" dirty="0"/>
              <a:t>实践成绩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80%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8" name="矩形 4">
            <a:extLst>
              <a:ext uri="{FF2B5EF4-FFF2-40B4-BE49-F238E27FC236}">
                <a16:creationId xmlns:a16="http://schemas.microsoft.com/office/drawing/2014/main" id="{420429FC-F6E6-49DA-8BF9-F19D7EEEE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" y="3616325"/>
            <a:ext cx="35607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</a:rPr>
              <a:t>实验提交</a:t>
            </a:r>
            <a:endParaRPr lang="zh-CN" altLang="zh-CN" sz="24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E994B68-730E-4744-9880-586A6838FEC9}"/>
              </a:ext>
            </a:extLst>
          </p:cNvPr>
          <p:cNvSpPr txBox="1"/>
          <p:nvPr/>
        </p:nvSpPr>
        <p:spPr>
          <a:xfrm>
            <a:off x="1076201" y="4005263"/>
            <a:ext cx="8067799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dirty="0"/>
              <a:t>提交内容：源代码，运行结果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dirty="0"/>
              <a:t>代码提交：每次实验源代码放入一个</a:t>
            </a:r>
            <a:r>
              <a:rPr lang="en-US" altLang="zh-CN" dirty="0" err="1"/>
              <a:t>Class_X</a:t>
            </a:r>
            <a:r>
              <a:rPr lang="zh-CN" altLang="en-US" dirty="0"/>
              <a:t>文件夹中，最终</a:t>
            </a:r>
            <a:r>
              <a:rPr lang="en-US" altLang="zh-CN" dirty="0"/>
              <a:t>20</a:t>
            </a:r>
            <a:r>
              <a:rPr lang="zh-CN" altLang="en-US" dirty="0"/>
              <a:t>次一起打包并命名为“姓名</a:t>
            </a:r>
            <a:r>
              <a:rPr lang="en-US" altLang="zh-CN" dirty="0"/>
              <a:t>+</a:t>
            </a:r>
            <a:r>
              <a:rPr lang="zh-CN" altLang="en-US" dirty="0"/>
              <a:t>学号”，发送至助教邮箱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dirty="0"/>
              <a:t>提交时间：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57D1F5-C827-30CD-9BD0-D95284859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40" b="24461"/>
          <a:stretch/>
        </p:blipFill>
        <p:spPr>
          <a:xfrm>
            <a:off x="5218683" y="620688"/>
            <a:ext cx="3391555" cy="36724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</a:t>
            </a:r>
            <a:r>
              <a:rPr lang="zh-CN" altLang="en-US"/>
              <a:t>语言</a:t>
            </a:r>
            <a:r>
              <a:rPr lang="en-US" altLang="zh-CN"/>
              <a:t>/C++</a:t>
            </a:r>
            <a:r>
              <a:rPr lang="zh-CN" altLang="en-US"/>
              <a:t>教程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C</a:t>
            </a:r>
            <a:r>
              <a:rPr lang="zh-CN" altLang="en-US"/>
              <a:t>语言教程</a:t>
            </a:r>
          </a:p>
          <a:p>
            <a:pPr lvl="1"/>
            <a:r>
              <a:rPr lang="zh-CN" altLang="en-US">
                <a:hlinkClick r:id="rId2" action="ppaction://hlinkfile"/>
              </a:rPr>
              <a:t>https://www.runoob.com/cprogramming/c-tutorial.html</a:t>
            </a:r>
            <a:endParaRPr lang="zh-CN" altLang="en-US"/>
          </a:p>
          <a:p>
            <a:pPr lvl="0"/>
            <a:r>
              <a:rPr lang="en-US" altLang="zh-CN"/>
              <a:t>C++</a:t>
            </a:r>
            <a:r>
              <a:rPr lang="zh-CN" altLang="en-US"/>
              <a:t>教程</a:t>
            </a:r>
          </a:p>
          <a:p>
            <a:pPr lvl="1"/>
            <a:r>
              <a:rPr lang="zh-CN" altLang="en-US">
                <a:hlinkClick r:id="rId3" action="ppaction://hlinkfile"/>
              </a:rPr>
              <a:t>https://www.runoob.com/cplusplus/cpp-tutorial.html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DC4D14DD-C831-4DA0-A209-C4908EA6B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76250"/>
            <a:ext cx="302577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第一次实验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47FDB3-6DD6-45FC-AD34-063B594789EB}"/>
              </a:ext>
            </a:extLst>
          </p:cNvPr>
          <p:cNvSpPr txBox="1"/>
          <p:nvPr/>
        </p:nvSpPr>
        <p:spPr>
          <a:xfrm>
            <a:off x="755650" y="1260475"/>
            <a:ext cx="5976938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递归、数组、指针、动态数组</a:t>
            </a:r>
          </a:p>
        </p:txBody>
      </p:sp>
      <p:sp>
        <p:nvSpPr>
          <p:cNvPr id="10244" name="文本框 6">
            <a:extLst>
              <a:ext uri="{FF2B5EF4-FFF2-40B4-BE49-F238E27FC236}">
                <a16:creationId xmlns:a16="http://schemas.microsoft.com/office/drawing/2014/main" id="{1F62A7F1-8FE5-4A65-803B-BFF8E865C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751013"/>
            <a:ext cx="78486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练习</a:t>
            </a:r>
            <a:r>
              <a:rPr lang="en-US" altLang="zh-CN" sz="1800" dirty="0"/>
              <a:t>1</a:t>
            </a:r>
            <a:r>
              <a:rPr lang="zh-CN" altLang="en-US" sz="1800" dirty="0"/>
              <a:t>：兔子生崽问题。假设一对小兔的成熟期是一个月，即一个月可长成成兔，每对成兔每个月可以生一对小兔，一对新生的小兔从第二个月起就开始生兔子，试问从一对兔子开始繁殖，一年以后可有多少对</a:t>
            </a:r>
            <a:r>
              <a:rPr lang="zh-CN" altLang="en-US" sz="1800"/>
              <a:t>兔子？（月前月末都可）</a:t>
            </a: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练习</a:t>
            </a:r>
            <a:r>
              <a:rPr lang="en-US" altLang="zh-CN" sz="1800" dirty="0"/>
              <a:t>2</a:t>
            </a:r>
            <a:r>
              <a:rPr lang="zh-CN" altLang="en-US" sz="1800" dirty="0"/>
              <a:t>：挑战类型表示的极限</a:t>
            </a:r>
            <a:r>
              <a:rPr lang="en-US" altLang="zh-CN" sz="1800" dirty="0"/>
              <a:t>——</a:t>
            </a:r>
            <a:r>
              <a:rPr lang="zh-CN" altLang="en-US" sz="1800" dirty="0"/>
              <a:t>大数存储问题。编程计算并输出</a:t>
            </a:r>
            <a:r>
              <a:rPr lang="en-US" altLang="zh-CN" sz="1800" dirty="0"/>
              <a:t>1~40</a:t>
            </a:r>
            <a:r>
              <a:rPr lang="zh-CN" altLang="en-US" sz="1800" dirty="0"/>
              <a:t>之间的所有数的阶乘。</a:t>
            </a: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练习</a:t>
            </a:r>
            <a:r>
              <a:rPr lang="en-US" altLang="zh-CN" sz="1800" dirty="0"/>
              <a:t>3</a:t>
            </a:r>
            <a:r>
              <a:rPr lang="zh-CN" altLang="en-US" sz="1800" dirty="0"/>
              <a:t>：用函数编程计算并输出如图所示的杨辉三角，行数由用户输入。</a:t>
            </a:r>
          </a:p>
        </p:txBody>
      </p:sp>
      <p:sp>
        <p:nvSpPr>
          <p:cNvPr id="10245" name="文本框 7">
            <a:extLst>
              <a:ext uri="{FF2B5EF4-FFF2-40B4-BE49-F238E27FC236}">
                <a16:creationId xmlns:a16="http://schemas.microsoft.com/office/drawing/2014/main" id="{BE3A5013-A097-4CC7-BF6D-5C846A647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4437063"/>
            <a:ext cx="2303463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1   1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1   2   1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1   3   3   1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1   4   6   4   1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1   5  10 10  5  1 </a:t>
            </a:r>
            <a:endParaRPr lang="zh-CN" altLang="en-US" sz="1800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BEB129A-6B25-45DF-861A-044A8F8ED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672"/>
            <a:ext cx="302577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第一次实验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文本框 5">
            <a:extLst>
              <a:ext uri="{FF2B5EF4-FFF2-40B4-BE49-F238E27FC236}">
                <a16:creationId xmlns:a16="http://schemas.microsoft.com/office/drawing/2014/main" id="{5A4902D1-9CFD-450C-A4F3-E34AD926E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12875"/>
            <a:ext cx="7991475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编程模拟斗地主的发牌过程。</a:t>
            </a: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一副扑克有</a:t>
            </a:r>
            <a:r>
              <a:rPr lang="en-US" altLang="zh-CN" sz="1800" dirty="0"/>
              <a:t>54</a:t>
            </a:r>
            <a:r>
              <a:rPr lang="zh-CN" altLang="en-US" sz="1800" dirty="0"/>
              <a:t>张牌，每张扑克包括花色</a:t>
            </a:r>
            <a:r>
              <a:rPr lang="en-US" altLang="zh-CN" sz="1800" dirty="0"/>
              <a:t>(Suit)</a:t>
            </a:r>
            <a:r>
              <a:rPr lang="zh-CN" altLang="en-US" sz="1800" dirty="0"/>
              <a:t>和牌面</a:t>
            </a:r>
            <a:r>
              <a:rPr lang="en-US" altLang="zh-CN" sz="1800" dirty="0"/>
              <a:t>(Face)</a:t>
            </a:r>
            <a:r>
              <a:rPr lang="zh-CN" altLang="en-US" sz="1800" dirty="0"/>
              <a:t>两个部分，花色包括：黑桃</a:t>
            </a:r>
            <a:r>
              <a:rPr lang="en-US" altLang="zh-CN" sz="1800" dirty="0"/>
              <a:t>(spades)</a:t>
            </a:r>
            <a:r>
              <a:rPr lang="zh-CN" altLang="en-US" sz="1800" dirty="0"/>
              <a:t>、红桃</a:t>
            </a:r>
            <a:r>
              <a:rPr lang="en-US" altLang="zh-CN" sz="1800" dirty="0"/>
              <a:t>(hearts)</a:t>
            </a:r>
            <a:r>
              <a:rPr lang="zh-CN" altLang="en-US" sz="1800" dirty="0"/>
              <a:t>、草花</a:t>
            </a:r>
            <a:r>
              <a:rPr lang="en-US" altLang="zh-CN" sz="1800" dirty="0"/>
              <a:t>(clubs)</a:t>
            </a:r>
            <a:r>
              <a:rPr lang="zh-CN" altLang="en-US" sz="1800" dirty="0"/>
              <a:t>、方块</a:t>
            </a:r>
            <a:r>
              <a:rPr lang="en-US" altLang="zh-CN" sz="1800" dirty="0"/>
              <a:t>(diamonds) </a:t>
            </a:r>
            <a:r>
              <a:rPr lang="zh-CN" altLang="en-US" sz="1800" dirty="0"/>
              <a:t>、</a:t>
            </a:r>
            <a:r>
              <a:rPr lang="en-US" altLang="zh-CN" sz="1800" dirty="0"/>
              <a:t>red</a:t>
            </a:r>
            <a:r>
              <a:rPr lang="zh-CN" altLang="en-US" sz="1800" dirty="0"/>
              <a:t>、</a:t>
            </a:r>
            <a:r>
              <a:rPr lang="en-US" altLang="zh-CN" sz="1800" dirty="0"/>
              <a:t>black</a:t>
            </a:r>
            <a:r>
              <a:rPr lang="zh-CN" altLang="en-US" sz="1800" dirty="0"/>
              <a:t>。黑桃，红桃，草花和方块又有</a:t>
            </a:r>
            <a:r>
              <a:rPr lang="en-US" altLang="zh-CN" sz="1800" dirty="0"/>
              <a:t>13</a:t>
            </a:r>
            <a:r>
              <a:rPr lang="zh-CN" altLang="en-US" sz="1800" dirty="0"/>
              <a:t>张牌面：</a:t>
            </a:r>
            <a:r>
              <a:rPr lang="en-US" altLang="zh-CN" sz="1800" dirty="0"/>
              <a:t>2</a:t>
            </a:r>
            <a:r>
              <a:rPr lang="zh-CN" altLang="en-US" sz="1800" dirty="0"/>
              <a:t>、</a:t>
            </a:r>
            <a:r>
              <a:rPr lang="en-US" altLang="zh-CN" sz="1800" dirty="0"/>
              <a:t>3……10</a:t>
            </a:r>
            <a:r>
              <a:rPr lang="zh-CN" altLang="en-US" sz="1800" dirty="0"/>
              <a:t>、</a:t>
            </a:r>
            <a:r>
              <a:rPr lang="en-US" altLang="zh-CN" sz="1800" dirty="0"/>
              <a:t>Jack</a:t>
            </a:r>
            <a:r>
              <a:rPr lang="zh-CN" altLang="en-US" sz="1800" dirty="0"/>
              <a:t>（</a:t>
            </a:r>
            <a:r>
              <a:rPr lang="en-US" altLang="zh-CN" sz="1800" dirty="0"/>
              <a:t>J</a:t>
            </a:r>
            <a:r>
              <a:rPr lang="zh-CN" altLang="en-US" sz="1800" dirty="0"/>
              <a:t>）、</a:t>
            </a:r>
            <a:r>
              <a:rPr lang="en-US" altLang="zh-CN" sz="1800" dirty="0"/>
              <a:t>Queen</a:t>
            </a:r>
            <a:r>
              <a:rPr lang="zh-CN" altLang="en-US" sz="1800" dirty="0"/>
              <a:t>（</a:t>
            </a:r>
            <a:r>
              <a:rPr lang="en-US" altLang="zh-CN" sz="1800" dirty="0"/>
              <a:t>Q</a:t>
            </a:r>
            <a:r>
              <a:rPr lang="zh-CN" altLang="en-US" sz="1800" dirty="0"/>
              <a:t>）、</a:t>
            </a:r>
            <a:r>
              <a:rPr lang="en-US" altLang="zh-CN" sz="1800" dirty="0"/>
              <a:t>King</a:t>
            </a:r>
            <a:r>
              <a:rPr lang="zh-CN" altLang="en-US" sz="1800" dirty="0"/>
              <a:t>（</a:t>
            </a:r>
            <a:r>
              <a:rPr lang="en-US" altLang="zh-CN" sz="1800" dirty="0"/>
              <a:t>K</a:t>
            </a:r>
            <a:r>
              <a:rPr lang="zh-CN" altLang="en-US" sz="1800" dirty="0"/>
              <a:t>）、</a:t>
            </a:r>
            <a:r>
              <a:rPr lang="en-US" altLang="zh-CN" sz="1800" dirty="0"/>
              <a:t>A</a:t>
            </a:r>
            <a:r>
              <a:rPr lang="zh-CN" altLang="en-US" sz="1800" dirty="0"/>
              <a:t>。</a:t>
            </a:r>
            <a:r>
              <a:rPr lang="en-US" altLang="zh-CN" sz="1800" dirty="0"/>
              <a:t>red </a:t>
            </a:r>
            <a:r>
              <a:rPr lang="zh-CN" altLang="en-US" sz="1800" dirty="0"/>
              <a:t>和 </a:t>
            </a:r>
            <a:r>
              <a:rPr lang="en-US" altLang="zh-CN" sz="1800" dirty="0"/>
              <a:t>black </a:t>
            </a:r>
            <a:r>
              <a:rPr lang="zh-CN" altLang="en-US" sz="1800" dirty="0"/>
              <a:t>仅有</a:t>
            </a:r>
            <a:r>
              <a:rPr lang="en-US" altLang="zh-CN" sz="1800" dirty="0"/>
              <a:t>1</a:t>
            </a:r>
            <a:r>
              <a:rPr lang="zh-CN" altLang="en-US" sz="1800" dirty="0"/>
              <a:t>种牌面</a:t>
            </a:r>
            <a:r>
              <a:rPr lang="en-US" altLang="zh-CN" sz="1800" dirty="0"/>
              <a:t>Joker</a:t>
            </a:r>
            <a:r>
              <a:rPr lang="zh-CN" altLang="en-US" sz="1800" dirty="0"/>
              <a:t>（</a:t>
            </a:r>
            <a:r>
              <a:rPr lang="en-US" altLang="zh-CN" sz="1800" dirty="0"/>
              <a:t>JK</a:t>
            </a:r>
            <a:r>
              <a:rPr lang="zh-CN" altLang="en-US" sz="1800" dirty="0"/>
              <a:t>）。每位玩家</a:t>
            </a:r>
            <a:r>
              <a:rPr lang="en-US" altLang="zh-CN" sz="1800" dirty="0"/>
              <a:t>17</a:t>
            </a:r>
            <a:r>
              <a:rPr lang="zh-CN" altLang="en-US" sz="1800" dirty="0"/>
              <a:t>张牌，剩余</a:t>
            </a:r>
            <a:r>
              <a:rPr lang="en-US" altLang="zh-CN" sz="1800" dirty="0"/>
              <a:t>3</a:t>
            </a:r>
            <a:r>
              <a:rPr lang="zh-CN" altLang="en-US" sz="1800" dirty="0"/>
              <a:t>张底牌</a:t>
            </a: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要求随机发</a:t>
            </a:r>
            <a:r>
              <a:rPr lang="en-US" altLang="zh-CN" sz="1800" b="1" dirty="0">
                <a:solidFill>
                  <a:srgbClr val="FF0000"/>
                </a:solidFill>
              </a:rPr>
              <a:t>5</a:t>
            </a:r>
            <a:r>
              <a:rPr lang="zh-CN" altLang="en-US" sz="1800" b="1" dirty="0">
                <a:solidFill>
                  <a:srgbClr val="FF0000"/>
                </a:solidFill>
              </a:rPr>
              <a:t>次牌</a:t>
            </a:r>
            <a:r>
              <a:rPr lang="zh-CN" altLang="en-US" sz="1800" dirty="0"/>
              <a:t>，输出每次发牌后，每位玩家的牌和剩余的底牌：</a:t>
            </a:r>
            <a:endParaRPr lang="en-US" altLang="zh-CN" sz="1800" dirty="0"/>
          </a:p>
        </p:txBody>
      </p:sp>
      <p:sp>
        <p:nvSpPr>
          <p:cNvPr id="11268" name="文本框 1">
            <a:extLst>
              <a:ext uri="{FF2B5EF4-FFF2-40B4-BE49-F238E27FC236}">
                <a16:creationId xmlns:a16="http://schemas.microsoft.com/office/drawing/2014/main" id="{EFE5E05E-9945-4D39-80EE-46BAA80BB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4244975"/>
            <a:ext cx="54721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玩家</a:t>
            </a:r>
            <a:r>
              <a:rPr lang="en-US" altLang="zh-CN" sz="1800"/>
              <a:t>1:  </a:t>
            </a:r>
            <a:r>
              <a:rPr lang="zh-CN" altLang="en-US" sz="1800"/>
              <a:t>黑桃</a:t>
            </a:r>
            <a:r>
              <a:rPr lang="en-US" altLang="zh-CN" sz="1800"/>
              <a:t>_A     </a:t>
            </a:r>
            <a:r>
              <a:rPr lang="zh-CN" altLang="en-US" sz="1800"/>
              <a:t>红桃</a:t>
            </a:r>
            <a:r>
              <a:rPr lang="en-US" altLang="zh-CN" sz="1800"/>
              <a:t>_A     </a:t>
            </a:r>
            <a:r>
              <a:rPr lang="zh-CN" altLang="en-US" sz="1800"/>
              <a:t>草花</a:t>
            </a:r>
            <a:r>
              <a:rPr lang="en-US" altLang="zh-CN" sz="1800"/>
              <a:t>_2    ….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玩家</a:t>
            </a:r>
            <a:r>
              <a:rPr lang="en-US" altLang="zh-CN" sz="1800"/>
              <a:t>2:  </a:t>
            </a:r>
            <a:r>
              <a:rPr lang="zh-CN" altLang="en-US" sz="1800"/>
              <a:t>方块</a:t>
            </a:r>
            <a:r>
              <a:rPr lang="en-US" altLang="zh-CN" sz="1800"/>
              <a:t>_K     </a:t>
            </a:r>
            <a:r>
              <a:rPr lang="zh-CN" altLang="en-US" sz="1800"/>
              <a:t>草花</a:t>
            </a:r>
            <a:r>
              <a:rPr lang="en-US" altLang="zh-CN" sz="1800"/>
              <a:t>_J     </a:t>
            </a:r>
            <a:r>
              <a:rPr lang="zh-CN" altLang="en-US" sz="1800"/>
              <a:t>黑桃</a:t>
            </a:r>
            <a:r>
              <a:rPr lang="en-US" altLang="zh-CN" sz="1800"/>
              <a:t>_Q   ….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玩家</a:t>
            </a:r>
            <a:r>
              <a:rPr lang="en-US" altLang="zh-CN" sz="1800"/>
              <a:t>3:  </a:t>
            </a:r>
            <a:r>
              <a:rPr lang="zh-CN" altLang="en-US" sz="1800"/>
              <a:t>黑桃</a:t>
            </a:r>
            <a:r>
              <a:rPr lang="en-US" altLang="zh-CN" sz="1800"/>
              <a:t>_4      </a:t>
            </a:r>
            <a:r>
              <a:rPr lang="zh-CN" altLang="en-US" sz="1800"/>
              <a:t>方块</a:t>
            </a:r>
            <a:r>
              <a:rPr lang="en-US" altLang="zh-CN" sz="1800"/>
              <a:t>_10   </a:t>
            </a:r>
            <a:r>
              <a:rPr lang="zh-CN" altLang="en-US" sz="1800"/>
              <a:t>草花</a:t>
            </a:r>
            <a:r>
              <a:rPr lang="en-US" altLang="zh-CN" sz="1800"/>
              <a:t>_8   ….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底牌</a:t>
            </a:r>
            <a:r>
              <a:rPr lang="en-US" altLang="zh-CN" sz="1800"/>
              <a:t>:    </a:t>
            </a:r>
            <a:r>
              <a:rPr lang="zh-CN" altLang="en-US" sz="1800"/>
              <a:t>方块</a:t>
            </a:r>
            <a:r>
              <a:rPr lang="en-US" altLang="zh-CN" sz="1800"/>
              <a:t>_2     </a:t>
            </a:r>
            <a:r>
              <a:rPr lang="zh-CN" altLang="en-US" sz="1800"/>
              <a:t>小王</a:t>
            </a:r>
            <a:r>
              <a:rPr lang="en-US" altLang="zh-CN" sz="1800"/>
              <a:t>          </a:t>
            </a:r>
            <a:r>
              <a:rPr lang="zh-CN" altLang="en-US" sz="1800"/>
              <a:t>大王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5EB692F-BB14-4D07-9ED3-C946BD37D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672"/>
            <a:ext cx="302577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第二次实验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1733A94B-86B9-418E-BF36-062FA0CA4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404664"/>
            <a:ext cx="497522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第三次实验</a:t>
            </a:r>
          </a:p>
        </p:txBody>
      </p:sp>
      <p:sp>
        <p:nvSpPr>
          <p:cNvPr id="12291" name="文本框 2">
            <a:extLst>
              <a:ext uri="{FF2B5EF4-FFF2-40B4-BE49-F238E27FC236}">
                <a16:creationId xmlns:a16="http://schemas.microsoft.com/office/drawing/2014/main" id="{9C5F4BD4-04B0-4AD5-A2CD-289107436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80728"/>
            <a:ext cx="8064500" cy="5855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000000"/>
                </a:solidFill>
              </a:rPr>
              <a:t>编写一个函数来验证输入的字符串是否是有效的 </a:t>
            </a:r>
            <a:r>
              <a:rPr lang="en-US" altLang="zh-CN" sz="1800" dirty="0">
                <a:solidFill>
                  <a:srgbClr val="000000"/>
                </a:solidFill>
              </a:rPr>
              <a:t>IPv4 /</a:t>
            </a:r>
            <a:r>
              <a:rPr lang="zh-CN" altLang="en-US" sz="1800" dirty="0">
                <a:solidFill>
                  <a:srgbClr val="000000"/>
                </a:solidFill>
              </a:rPr>
              <a:t> </a:t>
            </a:r>
            <a:r>
              <a:rPr lang="en-US" altLang="zh-CN" sz="1800" dirty="0">
                <a:solidFill>
                  <a:srgbClr val="000000"/>
                </a:solidFill>
              </a:rPr>
              <a:t>IPv6 / </a:t>
            </a:r>
            <a:r>
              <a:rPr lang="en-US" altLang="zh-CN" sz="1800" b="1" dirty="0">
                <a:solidFill>
                  <a:srgbClr val="FF0000"/>
                </a:solidFill>
              </a:rPr>
              <a:t>MAC</a:t>
            </a:r>
            <a:r>
              <a:rPr lang="en-US" altLang="zh-CN" sz="1800" dirty="0">
                <a:solidFill>
                  <a:srgbClr val="000000"/>
                </a:solidFill>
              </a:rPr>
              <a:t> </a:t>
            </a:r>
            <a:r>
              <a:rPr lang="zh-CN" altLang="en-US" sz="1800" dirty="0">
                <a:solidFill>
                  <a:srgbClr val="000000"/>
                </a:solidFill>
              </a:rPr>
              <a:t>地址</a:t>
            </a:r>
            <a:r>
              <a:rPr lang="en-US" altLang="zh-CN" sz="1800" dirty="0">
                <a:solidFill>
                  <a:srgbClr val="000000"/>
                </a:solidFill>
              </a:rPr>
              <a:t>,</a:t>
            </a:r>
            <a:r>
              <a:rPr lang="zh-CN" altLang="en-US" sz="1800" dirty="0">
                <a:solidFill>
                  <a:srgbClr val="000000"/>
                </a:solidFill>
              </a:rPr>
              <a:t>并指出具体哪位数存在问题。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solidFill>
                <a:srgbClr val="000000"/>
              </a:solidFill>
            </a:endParaRPr>
          </a:p>
          <a:p>
            <a:pPr algn="just" eaLnBrk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IPv4 </a:t>
            </a:r>
            <a:r>
              <a:rPr lang="zh-CN" altLang="en-US" sz="1800" dirty="0">
                <a:solidFill>
                  <a:srgbClr val="000000"/>
                </a:solidFill>
              </a:rPr>
              <a:t>地址由十进制数和点来表示，每个地址包含</a:t>
            </a:r>
            <a:r>
              <a:rPr lang="en-US" altLang="zh-CN" sz="1800" dirty="0">
                <a:solidFill>
                  <a:srgbClr val="000000"/>
                </a:solidFill>
              </a:rPr>
              <a:t>4</a:t>
            </a:r>
            <a:r>
              <a:rPr lang="zh-CN" altLang="en-US" sz="1800" dirty="0">
                <a:solidFill>
                  <a:srgbClr val="000000"/>
                </a:solidFill>
              </a:rPr>
              <a:t>个十进制数，其范围为 </a:t>
            </a:r>
            <a:r>
              <a:rPr lang="en-US" altLang="zh-CN" sz="1800" dirty="0">
                <a:solidFill>
                  <a:srgbClr val="000000"/>
                </a:solidFill>
              </a:rPr>
              <a:t>0 - 255</a:t>
            </a:r>
            <a:r>
              <a:rPr lang="zh-CN" altLang="en-US" sz="1800" dirty="0">
                <a:solidFill>
                  <a:srgbClr val="000000"/>
                </a:solidFill>
              </a:rPr>
              <a:t>， 用</a:t>
            </a:r>
            <a:r>
              <a:rPr lang="en-US" altLang="zh-CN" sz="1800" dirty="0">
                <a:solidFill>
                  <a:srgbClr val="000000"/>
                </a:solidFill>
              </a:rPr>
              <a:t>(“.”)</a:t>
            </a:r>
            <a:r>
              <a:rPr lang="zh-CN" altLang="en-US" sz="1800" dirty="0">
                <a:solidFill>
                  <a:srgbClr val="000000"/>
                </a:solidFill>
              </a:rPr>
              <a:t>分割。比如：</a:t>
            </a:r>
            <a:r>
              <a:rPr lang="en-US" altLang="zh-CN" sz="1800" dirty="0">
                <a:solidFill>
                  <a:srgbClr val="000000"/>
                </a:solidFill>
              </a:rPr>
              <a:t>172.16.254.1</a:t>
            </a:r>
            <a:r>
              <a:rPr lang="zh-CN" altLang="en-US" sz="1800" dirty="0">
                <a:solidFill>
                  <a:srgbClr val="000000"/>
                </a:solidFill>
              </a:rPr>
              <a:t>；同时，</a:t>
            </a:r>
            <a:r>
              <a:rPr lang="en-US" altLang="zh-CN" sz="1800" dirty="0">
                <a:solidFill>
                  <a:srgbClr val="000000"/>
                </a:solidFill>
              </a:rPr>
              <a:t>IPv4 </a:t>
            </a:r>
            <a:r>
              <a:rPr lang="zh-CN" altLang="en-US" sz="1800" dirty="0">
                <a:solidFill>
                  <a:srgbClr val="000000"/>
                </a:solidFill>
              </a:rPr>
              <a:t>地址内的数不会以 </a:t>
            </a:r>
            <a:r>
              <a:rPr lang="en-US" altLang="zh-CN" sz="1800" dirty="0">
                <a:solidFill>
                  <a:srgbClr val="000000"/>
                </a:solidFill>
              </a:rPr>
              <a:t>0 </a:t>
            </a:r>
            <a:r>
              <a:rPr lang="zh-CN" altLang="en-US" sz="1800" dirty="0">
                <a:solidFill>
                  <a:srgbClr val="000000"/>
                </a:solidFill>
              </a:rPr>
              <a:t>开头。比如，地址 </a:t>
            </a:r>
            <a:r>
              <a:rPr lang="en-US" altLang="zh-CN" sz="1800" dirty="0">
                <a:solidFill>
                  <a:srgbClr val="000000"/>
                </a:solidFill>
              </a:rPr>
              <a:t>172.16.254.</a:t>
            </a:r>
            <a:r>
              <a:rPr lang="en-US" altLang="zh-CN" sz="1800" dirty="0">
                <a:solidFill>
                  <a:srgbClr val="FF0000"/>
                </a:solidFill>
              </a:rPr>
              <a:t>0</a:t>
            </a:r>
            <a:r>
              <a:rPr lang="en-US" altLang="zh-CN" sz="1800" dirty="0">
                <a:solidFill>
                  <a:srgbClr val="000000"/>
                </a:solidFill>
              </a:rPr>
              <a:t>1 </a:t>
            </a:r>
            <a:r>
              <a:rPr lang="zh-CN" altLang="en-US" sz="1800" dirty="0">
                <a:solidFill>
                  <a:srgbClr val="000000"/>
                </a:solidFill>
              </a:rPr>
              <a:t>是不合法的。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IPv6 </a:t>
            </a:r>
            <a:r>
              <a:rPr lang="zh-CN" altLang="en-US" sz="1800" dirty="0">
                <a:solidFill>
                  <a:srgbClr val="000000"/>
                </a:solidFill>
              </a:rPr>
              <a:t>地址由</a:t>
            </a:r>
            <a:r>
              <a:rPr lang="en-US" altLang="zh-CN" sz="1800" dirty="0">
                <a:solidFill>
                  <a:srgbClr val="000000"/>
                </a:solidFill>
              </a:rPr>
              <a:t>8</a:t>
            </a:r>
            <a:r>
              <a:rPr lang="zh-CN" altLang="en-US" sz="1800" dirty="0">
                <a:solidFill>
                  <a:srgbClr val="000000"/>
                </a:solidFill>
              </a:rPr>
              <a:t>组</a:t>
            </a:r>
            <a:r>
              <a:rPr lang="en-US" altLang="zh-CN" sz="1800" dirty="0">
                <a:solidFill>
                  <a:srgbClr val="000000"/>
                </a:solidFill>
              </a:rPr>
              <a:t>16</a:t>
            </a:r>
            <a:r>
              <a:rPr lang="zh-CN" altLang="en-US" sz="1800" dirty="0">
                <a:solidFill>
                  <a:srgbClr val="000000"/>
                </a:solidFill>
              </a:rPr>
              <a:t>进制的数字来表示，每组表示 </a:t>
            </a:r>
            <a:r>
              <a:rPr lang="en-US" altLang="zh-CN" sz="1800" dirty="0">
                <a:solidFill>
                  <a:srgbClr val="000000"/>
                </a:solidFill>
              </a:rPr>
              <a:t>16 </a:t>
            </a:r>
            <a:r>
              <a:rPr lang="zh-CN" altLang="en-US" sz="1800" dirty="0">
                <a:solidFill>
                  <a:srgbClr val="000000"/>
                </a:solidFill>
              </a:rPr>
              <a:t>比特。这些组数字通过 </a:t>
            </a:r>
            <a:r>
              <a:rPr lang="en-US" altLang="zh-CN" sz="1800" dirty="0">
                <a:solidFill>
                  <a:srgbClr val="000000"/>
                </a:solidFill>
              </a:rPr>
              <a:t>(":")</a:t>
            </a:r>
            <a:r>
              <a:rPr lang="zh-CN" altLang="en-US" sz="1800" dirty="0">
                <a:solidFill>
                  <a:srgbClr val="000000"/>
                </a:solidFill>
              </a:rPr>
              <a:t>分割。比如</a:t>
            </a:r>
            <a:r>
              <a:rPr lang="en-US" altLang="zh-CN" sz="1800" dirty="0">
                <a:solidFill>
                  <a:srgbClr val="000000"/>
                </a:solidFill>
              </a:rPr>
              <a:t>,  2001:0db8:85a3:0000:0000:8a2e:0370:7334 </a:t>
            </a:r>
            <a:r>
              <a:rPr lang="zh-CN" altLang="en-US" sz="1800" dirty="0">
                <a:solidFill>
                  <a:srgbClr val="000000"/>
                </a:solidFill>
              </a:rPr>
              <a:t>是一个有效的地址。而且，我们可以加入一些以 </a:t>
            </a:r>
            <a:r>
              <a:rPr lang="en-US" altLang="zh-CN" sz="1800" dirty="0">
                <a:solidFill>
                  <a:srgbClr val="000000"/>
                </a:solidFill>
              </a:rPr>
              <a:t>0 </a:t>
            </a:r>
            <a:r>
              <a:rPr lang="zh-CN" altLang="en-US" sz="1800" dirty="0">
                <a:solidFill>
                  <a:srgbClr val="000000"/>
                </a:solidFill>
              </a:rPr>
              <a:t>开头的数字，字母可以使用大写，也可以是小写。所以，</a:t>
            </a:r>
            <a:r>
              <a:rPr lang="en-US" altLang="zh-CN" sz="1800" dirty="0">
                <a:solidFill>
                  <a:srgbClr val="000000"/>
                </a:solidFill>
              </a:rPr>
              <a:t>2001:db8:85a3:0:0:8A2E:0370:7334 </a:t>
            </a:r>
            <a:r>
              <a:rPr lang="zh-CN" altLang="en-US" sz="1800" dirty="0">
                <a:solidFill>
                  <a:srgbClr val="000000"/>
                </a:solidFill>
              </a:rPr>
              <a:t>也是一个有效的 </a:t>
            </a:r>
            <a:r>
              <a:rPr lang="en-US" altLang="zh-CN" sz="1800" dirty="0">
                <a:solidFill>
                  <a:srgbClr val="000000"/>
                </a:solidFill>
              </a:rPr>
              <a:t>IPv6 address</a:t>
            </a:r>
            <a:r>
              <a:rPr lang="zh-CN" altLang="en-US" sz="1800" dirty="0">
                <a:solidFill>
                  <a:srgbClr val="000000"/>
                </a:solidFill>
              </a:rPr>
              <a:t>地址 </a:t>
            </a:r>
            <a:r>
              <a:rPr lang="en-US" altLang="zh-CN" sz="1800" dirty="0">
                <a:solidFill>
                  <a:srgbClr val="000000"/>
                </a:solidFill>
              </a:rPr>
              <a:t>(</a:t>
            </a:r>
            <a:r>
              <a:rPr lang="zh-CN" altLang="en-US" sz="1800" dirty="0">
                <a:solidFill>
                  <a:srgbClr val="000000"/>
                </a:solidFill>
              </a:rPr>
              <a:t>即，忽略 </a:t>
            </a:r>
            <a:r>
              <a:rPr lang="en-US" altLang="zh-CN" sz="1800" dirty="0">
                <a:solidFill>
                  <a:srgbClr val="000000"/>
                </a:solidFill>
              </a:rPr>
              <a:t>0 </a:t>
            </a:r>
            <a:r>
              <a:rPr lang="zh-CN" altLang="en-US" sz="1800" dirty="0">
                <a:solidFill>
                  <a:srgbClr val="000000"/>
                </a:solidFill>
              </a:rPr>
              <a:t>开头，忽略大小写</a:t>
            </a:r>
            <a:r>
              <a:rPr lang="en-US" altLang="zh-CN" sz="1800" dirty="0">
                <a:solidFill>
                  <a:srgbClr val="000000"/>
                </a:solidFill>
              </a:rPr>
              <a:t>)</a:t>
            </a:r>
            <a:r>
              <a:rPr lang="zh-CN" altLang="en-US" sz="1800" dirty="0">
                <a:solidFill>
                  <a:srgbClr val="000000"/>
                </a:solidFill>
              </a:rPr>
              <a:t>。然而，我们不能因为某个组的值为</a:t>
            </a:r>
            <a:r>
              <a:rPr lang="en-US" altLang="zh-CN" sz="1800" dirty="0">
                <a:solidFill>
                  <a:srgbClr val="000000"/>
                </a:solidFill>
              </a:rPr>
              <a:t>0</a:t>
            </a:r>
            <a:r>
              <a:rPr lang="zh-CN" altLang="en-US" sz="1800" dirty="0">
                <a:solidFill>
                  <a:srgbClr val="000000"/>
                </a:solidFill>
              </a:rPr>
              <a:t>，而使用一个空的组，以至于出现 </a:t>
            </a:r>
            <a:r>
              <a:rPr lang="en-US" altLang="zh-CN" sz="1800" dirty="0">
                <a:solidFill>
                  <a:srgbClr val="000000"/>
                </a:solidFill>
              </a:rPr>
              <a:t>(::) </a:t>
            </a:r>
            <a:r>
              <a:rPr lang="zh-CN" altLang="en-US" sz="1800" dirty="0">
                <a:solidFill>
                  <a:srgbClr val="000000"/>
                </a:solidFill>
              </a:rPr>
              <a:t>的情况。比如， </a:t>
            </a:r>
            <a:r>
              <a:rPr lang="en-US" altLang="zh-CN" sz="1800" dirty="0">
                <a:solidFill>
                  <a:srgbClr val="000000"/>
                </a:solidFill>
              </a:rPr>
              <a:t>2001:0db8:85a3::8A2E:0370:7334 </a:t>
            </a:r>
            <a:r>
              <a:rPr lang="zh-CN" altLang="en-US" sz="1800" dirty="0">
                <a:solidFill>
                  <a:srgbClr val="000000"/>
                </a:solidFill>
              </a:rPr>
              <a:t>是无效的 </a:t>
            </a:r>
            <a:r>
              <a:rPr lang="en-US" altLang="zh-CN" sz="1800" dirty="0">
                <a:solidFill>
                  <a:srgbClr val="000000"/>
                </a:solidFill>
              </a:rPr>
              <a:t>IPv6 </a:t>
            </a:r>
            <a:r>
              <a:rPr lang="zh-CN" altLang="en-US" sz="1800" dirty="0">
                <a:solidFill>
                  <a:srgbClr val="000000"/>
                </a:solidFill>
              </a:rPr>
              <a:t>地址。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000000"/>
                </a:solidFill>
              </a:rPr>
              <a:t>同时，在 </a:t>
            </a:r>
            <a:r>
              <a:rPr lang="en-US" altLang="zh-CN" sz="1800" dirty="0">
                <a:solidFill>
                  <a:srgbClr val="000000"/>
                </a:solidFill>
              </a:rPr>
              <a:t>IPv6 </a:t>
            </a:r>
            <a:r>
              <a:rPr lang="zh-CN" altLang="en-US" sz="1800" dirty="0">
                <a:solidFill>
                  <a:srgbClr val="000000"/>
                </a:solidFill>
              </a:rPr>
              <a:t>地址中，多余的 </a:t>
            </a:r>
            <a:r>
              <a:rPr lang="en-US" altLang="zh-CN" sz="1800" dirty="0">
                <a:solidFill>
                  <a:srgbClr val="000000"/>
                </a:solidFill>
              </a:rPr>
              <a:t>0 </a:t>
            </a:r>
            <a:r>
              <a:rPr lang="zh-CN" altLang="en-US" sz="1800" dirty="0">
                <a:solidFill>
                  <a:srgbClr val="000000"/>
                </a:solidFill>
              </a:rPr>
              <a:t>也是不被允许的。比如， </a:t>
            </a:r>
            <a:r>
              <a:rPr lang="en-US" altLang="zh-CN" sz="1800" dirty="0">
                <a:solidFill>
                  <a:srgbClr val="FF0000"/>
                </a:solidFill>
              </a:rPr>
              <a:t>0</a:t>
            </a:r>
            <a:r>
              <a:rPr lang="en-US" altLang="zh-CN" sz="1800" dirty="0">
                <a:solidFill>
                  <a:srgbClr val="000000"/>
                </a:solidFill>
              </a:rPr>
              <a:t>2001:0db8:85a3:0000:0000:8a2e:0370:7334 </a:t>
            </a:r>
            <a:r>
              <a:rPr lang="zh-CN" altLang="en-US" sz="1800" dirty="0">
                <a:solidFill>
                  <a:srgbClr val="000000"/>
                </a:solidFill>
              </a:rPr>
              <a:t>是无效的。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图片 2">
            <a:extLst>
              <a:ext uri="{FF2B5EF4-FFF2-40B4-BE49-F238E27FC236}">
                <a16:creationId xmlns:a16="http://schemas.microsoft.com/office/drawing/2014/main" id="{F6F29F14-4C20-4931-9932-4937C3C23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925" y="1125538"/>
            <a:ext cx="4821238" cy="179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图片 4">
            <a:extLst>
              <a:ext uri="{FF2B5EF4-FFF2-40B4-BE49-F238E27FC236}">
                <a16:creationId xmlns:a16="http://schemas.microsoft.com/office/drawing/2014/main" id="{E2D9DC2B-413F-48EF-9C5C-6A416C420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925" y="3003550"/>
            <a:ext cx="4821238" cy="185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图片 6">
            <a:extLst>
              <a:ext uri="{FF2B5EF4-FFF2-40B4-BE49-F238E27FC236}">
                <a16:creationId xmlns:a16="http://schemas.microsoft.com/office/drawing/2014/main" id="{715F4C49-FC8E-4727-88F4-24ABA1330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4862513"/>
            <a:ext cx="4608512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23966ECC-51F8-4DE8-970C-314D448EE69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7584" y="1336100"/>
            <a:ext cx="7272808" cy="1477328"/>
          </a:xfrm>
          <a:prstGeom prst="rect">
            <a:avLst/>
          </a:prstGeom>
          <a:blipFill>
            <a:blip r:embed="rId3"/>
            <a:stretch>
              <a:fillRect l="-754" t="-3292" b="-4115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pic>
        <p:nvPicPr>
          <p:cNvPr id="38916" name="图片 10">
            <a:extLst>
              <a:ext uri="{FF2B5EF4-FFF2-40B4-BE49-F238E27FC236}">
                <a16:creationId xmlns:a16="http://schemas.microsoft.com/office/drawing/2014/main" id="{57D2C518-BA7F-4977-B4AC-843478354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852936"/>
            <a:ext cx="195262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图片 12">
            <a:extLst>
              <a:ext uri="{FF2B5EF4-FFF2-40B4-BE49-F238E27FC236}">
                <a16:creationId xmlns:a16="http://schemas.microsoft.com/office/drawing/2014/main" id="{564C85CB-B8A6-4A1D-90CA-6CCE2CCCE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771973"/>
            <a:ext cx="19621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216232DB-CEF0-4D98-A498-07B28BB41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672"/>
            <a:ext cx="302577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第四次实验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84AF80-152B-467E-AC53-04371E310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50" y="4554531"/>
            <a:ext cx="70926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数组</a:t>
            </a:r>
            <a:r>
              <a:rPr lang="en-US" altLang="zh-CN" sz="1800" dirty="0"/>
              <a:t>A</a:t>
            </a:r>
            <a:r>
              <a:rPr lang="zh-CN" altLang="en-US" sz="1800" dirty="0"/>
              <a:t>或者</a:t>
            </a:r>
            <a:r>
              <a:rPr lang="en-US" altLang="zh-CN" sz="1800" dirty="0"/>
              <a:t>B</a:t>
            </a:r>
            <a:r>
              <a:rPr lang="zh-CN" altLang="en-US" sz="1800" dirty="0"/>
              <a:t>可同时包含“整数”，“字符”，例如</a:t>
            </a:r>
            <a:r>
              <a:rPr lang="en-US" altLang="zh-CN" sz="1800" dirty="0"/>
              <a:t>A=[1,4,7,A,B,c]</a:t>
            </a:r>
            <a:r>
              <a:rPr lang="zh-CN" altLang="en-US" sz="1800" dirty="0"/>
              <a:t>，注意</a:t>
            </a:r>
            <a:r>
              <a:rPr lang="en-US" altLang="zh-CN" sz="1800" dirty="0"/>
              <a:t>case sensitive</a:t>
            </a:r>
            <a:endParaRPr lang="zh-CN" altLang="en-US" sz="1800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2BAFAF0-CAA5-4A0B-83DC-BF74EA384E69}"/>
              </a:ext>
            </a:extLst>
          </p:cNvPr>
          <p:cNvCxnSpPr/>
          <p:nvPr/>
        </p:nvCxnSpPr>
        <p:spPr bwMode="auto">
          <a:xfrm flipV="1">
            <a:off x="323528" y="4221088"/>
            <a:ext cx="8136904" cy="720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54188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图片 5">
            <a:extLst>
              <a:ext uri="{FF2B5EF4-FFF2-40B4-BE49-F238E27FC236}">
                <a16:creationId xmlns:a16="http://schemas.microsoft.com/office/drawing/2014/main" id="{3455E294-95B8-4EF6-B648-C4DB97714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238" y="2708275"/>
            <a:ext cx="7747000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标题 1">
            <a:extLst>
              <a:ext uri="{FF2B5EF4-FFF2-40B4-BE49-F238E27FC236}">
                <a16:creationId xmlns:a16="http://schemas.microsoft.com/office/drawing/2014/main" id="{5E737F27-D3A7-4F9F-A952-6484E0EF7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571500"/>
            <a:ext cx="497522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第五次实验</a:t>
            </a:r>
          </a:p>
        </p:txBody>
      </p:sp>
      <p:sp>
        <p:nvSpPr>
          <p:cNvPr id="16388" name="文本框 5">
            <a:extLst>
              <a:ext uri="{FF2B5EF4-FFF2-40B4-BE49-F238E27FC236}">
                <a16:creationId xmlns:a16="http://schemas.microsoft.com/office/drawing/2014/main" id="{B191B4AC-F940-42CD-888A-BECB0FBCC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196975"/>
            <a:ext cx="78486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单向链表、双向链表、单向循环链表的</a:t>
            </a:r>
            <a:r>
              <a:rPr lang="zh-CN" altLang="en-US" sz="1800" dirty="0"/>
              <a:t>建立、插入和删除操作。</a:t>
            </a: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建立一个单向链表，输入一串随机指定位数的整数并排序（升序或者降序），同时可以实现插入节点、删除节点、节点显示等操作，用编写一个菜单，由用户选择执行哪一种操作</a:t>
            </a:r>
            <a:r>
              <a:rPr lang="en-US" altLang="zh-CN" sz="1800" dirty="0"/>
              <a:t>(</a:t>
            </a:r>
            <a:r>
              <a:rPr lang="zh-CN" altLang="en-US" sz="1800" dirty="0"/>
              <a:t>插入</a:t>
            </a:r>
            <a:r>
              <a:rPr lang="en-US" altLang="zh-CN" sz="1800" dirty="0"/>
              <a:t>/</a:t>
            </a:r>
            <a:r>
              <a:rPr lang="zh-CN" altLang="en-US" sz="1800" dirty="0"/>
              <a:t>删除</a:t>
            </a:r>
            <a:r>
              <a:rPr lang="en-US" altLang="zh-CN" sz="1800" dirty="0"/>
              <a:t>/</a:t>
            </a:r>
            <a:r>
              <a:rPr lang="zh-CN" altLang="en-US" sz="1800" dirty="0"/>
              <a:t>按值查询</a:t>
            </a:r>
            <a:r>
              <a:rPr lang="en-US" altLang="zh-CN" sz="1800" dirty="0"/>
              <a:t>)</a:t>
            </a:r>
            <a:r>
              <a:rPr lang="zh-CN" altLang="en-US" sz="1800" dirty="0"/>
              <a:t>，并输出链表。</a:t>
            </a:r>
          </a:p>
        </p:txBody>
      </p:sp>
      <p:sp>
        <p:nvSpPr>
          <p:cNvPr id="16389" name="文本框 1">
            <a:extLst>
              <a:ext uri="{FF2B5EF4-FFF2-40B4-BE49-F238E27FC236}">
                <a16:creationId xmlns:a16="http://schemas.microsoft.com/office/drawing/2014/main" id="{23A823E3-583D-49FF-9ABC-8FF11BC5A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2225" y="3992563"/>
            <a:ext cx="3640138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示例：</a:t>
            </a:r>
            <a:endParaRPr lang="en-US" altLang="zh-CN" sz="1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输入：</a:t>
            </a:r>
            <a:r>
              <a:rPr lang="en-US" altLang="zh-CN" sz="1400" b="1"/>
              <a:t>8</a:t>
            </a:r>
            <a:r>
              <a:rPr lang="zh-CN" altLang="en-US" sz="1400" b="1"/>
              <a:t>位整数</a:t>
            </a:r>
            <a:endParaRPr lang="en-US" altLang="zh-CN" sz="1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生成：</a:t>
            </a:r>
            <a:r>
              <a:rPr lang="en-US" altLang="zh-CN" sz="1400" b="1"/>
              <a:t>9 5 6 3 4 4 7 0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链表：</a:t>
            </a:r>
            <a:r>
              <a:rPr lang="en-US" altLang="zh-CN" sz="1400" b="1"/>
              <a:t>0-&gt;3-&gt;4-&gt;4-&gt;5-&gt;6-&gt;7-&gt;9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插入：</a:t>
            </a:r>
            <a:r>
              <a:rPr lang="en-US" altLang="zh-CN" sz="1400" b="1"/>
              <a:t>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链表：</a:t>
            </a:r>
            <a:r>
              <a:rPr lang="en-US" altLang="zh-CN" sz="1400" b="1"/>
              <a:t>0-&gt;2-&gt;3-&gt;4-&gt;4-&gt;5-&gt;6-&gt;7-&gt;9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删除：</a:t>
            </a:r>
            <a:r>
              <a:rPr lang="en-US" altLang="zh-CN" sz="1400" b="1"/>
              <a:t>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链表：</a:t>
            </a:r>
            <a:r>
              <a:rPr lang="en-US" altLang="zh-CN" sz="1400" b="1"/>
              <a:t>0-&gt;2-&gt;3-&gt;4-&gt;4-&gt;6-&gt;7-&gt;9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查询：</a:t>
            </a:r>
            <a:r>
              <a:rPr lang="en-US" altLang="zh-CN" sz="1400" b="1"/>
              <a:t>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结果：</a:t>
            </a:r>
            <a:r>
              <a:rPr lang="en-US" altLang="zh-CN" sz="1400" b="1"/>
              <a:t>4</a:t>
            </a:r>
            <a:r>
              <a:rPr lang="zh-CN" altLang="en-US" sz="1400" b="1"/>
              <a:t>位于链表第</a:t>
            </a:r>
            <a:r>
              <a:rPr lang="en-US" altLang="zh-CN" sz="1400" b="1"/>
              <a:t>4</a:t>
            </a:r>
            <a:r>
              <a:rPr lang="zh-CN" altLang="en-US" sz="1400" b="1"/>
              <a:t>和</a:t>
            </a:r>
            <a:r>
              <a:rPr lang="en-US" altLang="zh-CN" sz="1400" b="1"/>
              <a:t>5</a:t>
            </a:r>
            <a:r>
              <a:rPr lang="zh-CN" altLang="en-US" sz="1400" b="1"/>
              <a:t>位</a:t>
            </a:r>
            <a:endParaRPr lang="en-US" altLang="zh-CN" sz="1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删除：</a:t>
            </a:r>
            <a:r>
              <a:rPr lang="en-US" altLang="zh-CN" sz="1400" b="1"/>
              <a:t>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链表：</a:t>
            </a:r>
            <a:r>
              <a:rPr lang="en-US" altLang="zh-CN" sz="1400" b="1"/>
              <a:t>0-&gt;2-&gt;3-&gt;6-&gt;7-&gt;9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 b="1"/>
          </a:p>
        </p:txBody>
      </p:sp>
      <p:pic>
        <p:nvPicPr>
          <p:cNvPr id="16391" name="图片 4">
            <a:extLst>
              <a:ext uri="{FF2B5EF4-FFF2-40B4-BE49-F238E27FC236}">
                <a16:creationId xmlns:a16="http://schemas.microsoft.com/office/drawing/2014/main" id="{CF2CC28E-905F-48D0-AD10-85D68D795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0" y="4678363"/>
            <a:ext cx="17335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文本框 5">
            <a:extLst>
              <a:ext uri="{FF2B5EF4-FFF2-40B4-BE49-F238E27FC236}">
                <a16:creationId xmlns:a16="http://schemas.microsoft.com/office/drawing/2014/main" id="{98B77CD8-5565-438A-9412-FBCF9FD32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1125538"/>
            <a:ext cx="6767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双向链表的建立、插入和删除操作。</a:t>
            </a:r>
            <a:endParaRPr lang="en-US" altLang="zh-CN" sz="1800"/>
          </a:p>
        </p:txBody>
      </p:sp>
      <p:sp>
        <p:nvSpPr>
          <p:cNvPr id="17412" name="文本框 5">
            <a:extLst>
              <a:ext uri="{FF2B5EF4-FFF2-40B4-BE49-F238E27FC236}">
                <a16:creationId xmlns:a16="http://schemas.microsoft.com/office/drawing/2014/main" id="{662AEEAF-190C-40A0-A195-E4482811E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1125538"/>
            <a:ext cx="6767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单向循环链表的建立、插入和删除操作。</a:t>
            </a:r>
            <a:endParaRPr lang="en-US" altLang="zh-CN" sz="1800"/>
          </a:p>
        </p:txBody>
      </p:sp>
      <p:sp>
        <p:nvSpPr>
          <p:cNvPr id="17413" name="文本框 5">
            <a:extLst>
              <a:ext uri="{FF2B5EF4-FFF2-40B4-BE49-F238E27FC236}">
                <a16:creationId xmlns:a16="http://schemas.microsoft.com/office/drawing/2014/main" id="{E8CEB87A-7D50-409D-930C-F55484B5B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1412875"/>
            <a:ext cx="3862387" cy="418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示例：</a:t>
            </a:r>
            <a:endParaRPr lang="en-US" altLang="zh-CN" sz="14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输入：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位整数</a:t>
            </a:r>
            <a:endParaRPr lang="en-US" altLang="zh-CN" sz="14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生成：</a:t>
            </a:r>
            <a:r>
              <a:rPr lang="en-US" altLang="zh-CN" sz="1400" b="1" dirty="0"/>
              <a:t>9 5 6 3 4 4 7 0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链表（</a:t>
            </a:r>
            <a:r>
              <a:rPr lang="en-US" altLang="zh-CN" sz="1400" b="1" dirty="0"/>
              <a:t>Next</a:t>
            </a:r>
            <a:r>
              <a:rPr lang="zh-CN" altLang="en-US" sz="1400" b="1" dirty="0"/>
              <a:t>）：</a:t>
            </a:r>
            <a:r>
              <a:rPr lang="en-US" altLang="zh-CN" sz="1400" b="1" dirty="0"/>
              <a:t>0-&gt;3-&gt;4-&gt;4-&gt;5-&gt;6-&gt;7-&gt;9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链表（</a:t>
            </a:r>
            <a:r>
              <a:rPr lang="en-US" altLang="zh-CN" sz="1400" b="1" dirty="0"/>
              <a:t>Prior</a:t>
            </a:r>
            <a:r>
              <a:rPr lang="zh-CN" altLang="en-US" sz="1400" b="1" dirty="0"/>
              <a:t>）：</a:t>
            </a:r>
            <a:r>
              <a:rPr lang="en-US" altLang="zh-CN" sz="1400" b="1" dirty="0"/>
              <a:t>9-&gt;7-&gt;6-&gt;5-&gt;4-&gt;4-&gt;3-&gt;0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插入：</a:t>
            </a:r>
            <a:r>
              <a:rPr lang="en-US" altLang="zh-CN" sz="1400" b="1" dirty="0"/>
              <a:t>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链表（</a:t>
            </a:r>
            <a:r>
              <a:rPr lang="en-US" altLang="zh-CN" sz="1400" b="1" dirty="0"/>
              <a:t>Next</a:t>
            </a:r>
            <a:r>
              <a:rPr lang="zh-CN" altLang="en-US" sz="1400" b="1" dirty="0"/>
              <a:t>）：</a:t>
            </a:r>
            <a:r>
              <a:rPr lang="en-US" altLang="zh-CN" sz="1400" b="1" dirty="0"/>
              <a:t>0-&gt;2-&gt;3-&gt;4-&gt;4-&gt;5-&gt;6-&gt;7-&gt;9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链表（</a:t>
            </a:r>
            <a:r>
              <a:rPr lang="en-US" altLang="zh-CN" sz="1400" b="1" dirty="0"/>
              <a:t>Prior</a:t>
            </a:r>
            <a:r>
              <a:rPr lang="zh-CN" altLang="en-US" sz="1400" b="1" dirty="0"/>
              <a:t>）：</a:t>
            </a:r>
            <a:r>
              <a:rPr lang="en-US" altLang="zh-CN" sz="1400" b="1" dirty="0"/>
              <a:t> 9-&gt;7-&gt;6-&gt;5-&gt;4-&gt;4-&gt;3-&gt;2-&gt;0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删除：</a:t>
            </a:r>
            <a:r>
              <a:rPr lang="en-US" altLang="zh-CN" sz="1400" b="1" dirty="0"/>
              <a:t>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链表（</a:t>
            </a:r>
            <a:r>
              <a:rPr lang="en-US" altLang="zh-CN" sz="1400" b="1" dirty="0"/>
              <a:t>Next</a:t>
            </a:r>
            <a:r>
              <a:rPr lang="zh-CN" altLang="en-US" sz="1400" b="1" dirty="0"/>
              <a:t>）：</a:t>
            </a:r>
            <a:r>
              <a:rPr lang="en-US" altLang="zh-CN" sz="1400" b="1" dirty="0"/>
              <a:t>0-&gt;2-&gt;3-&gt;4-&gt;4-&gt;6-&gt;7-&gt;9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链表（</a:t>
            </a:r>
            <a:r>
              <a:rPr lang="en-US" altLang="zh-CN" sz="1400" b="1" dirty="0"/>
              <a:t>Prior</a:t>
            </a:r>
            <a:r>
              <a:rPr lang="zh-CN" altLang="en-US" sz="1400" b="1" dirty="0"/>
              <a:t>）：</a:t>
            </a:r>
            <a:r>
              <a:rPr lang="en-US" altLang="zh-CN" sz="1400" b="1" dirty="0"/>
              <a:t>9-&gt;7-&gt;6-&gt;4-&gt;4-&gt;3-&gt;2-&gt;0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查询：</a:t>
            </a:r>
            <a:r>
              <a:rPr lang="en-US" altLang="zh-CN" sz="1400" b="1" dirty="0"/>
              <a:t>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结果：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位于正向链表第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,</a:t>
            </a:r>
            <a:r>
              <a:rPr lang="zh-CN" altLang="en-US" sz="1400" b="1" dirty="0"/>
              <a:t>位于反向链表第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删除：</a:t>
            </a:r>
            <a:r>
              <a:rPr lang="en-US" altLang="zh-CN" sz="1400" b="1" dirty="0"/>
              <a:t>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链表（</a:t>
            </a:r>
            <a:r>
              <a:rPr lang="en-US" altLang="zh-CN" sz="1400" b="1" dirty="0"/>
              <a:t>Next</a:t>
            </a:r>
            <a:r>
              <a:rPr lang="zh-CN" altLang="en-US" sz="1400" b="1" dirty="0"/>
              <a:t>）：</a:t>
            </a:r>
            <a:r>
              <a:rPr lang="en-US" altLang="zh-CN" sz="1400" b="1" dirty="0"/>
              <a:t>0-&gt;2-&gt;3-&gt;6-&gt;7-&gt;9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链表（</a:t>
            </a:r>
            <a:r>
              <a:rPr lang="en-US" altLang="zh-CN" sz="1400" b="1" dirty="0"/>
              <a:t>Prior</a:t>
            </a:r>
            <a:r>
              <a:rPr lang="zh-CN" altLang="en-US" sz="1400" b="1" dirty="0"/>
              <a:t>）：</a:t>
            </a:r>
            <a:r>
              <a:rPr lang="en-US" altLang="zh-CN" sz="1400" b="1" dirty="0"/>
              <a:t>9-&gt;7-&gt;6-&gt;3-&gt;2-&gt;0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4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 b="1" dirty="0"/>
          </a:p>
        </p:txBody>
      </p:sp>
      <p:sp>
        <p:nvSpPr>
          <p:cNvPr id="17414" name="文本框 7">
            <a:extLst>
              <a:ext uri="{FF2B5EF4-FFF2-40B4-BE49-F238E27FC236}">
                <a16:creationId xmlns:a16="http://schemas.microsoft.com/office/drawing/2014/main" id="{F34228C1-4D3B-4C04-A4C1-6F62774F8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1557338"/>
            <a:ext cx="3640138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示例：</a:t>
            </a:r>
            <a:endParaRPr lang="en-US" altLang="zh-CN" sz="1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输入：</a:t>
            </a:r>
            <a:r>
              <a:rPr lang="en-US" altLang="zh-CN" sz="1400" b="1"/>
              <a:t>8</a:t>
            </a:r>
            <a:r>
              <a:rPr lang="zh-CN" altLang="en-US" sz="1400" b="1"/>
              <a:t>位整数</a:t>
            </a:r>
            <a:endParaRPr lang="en-US" altLang="zh-CN" sz="1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生成：</a:t>
            </a:r>
            <a:r>
              <a:rPr lang="en-US" altLang="zh-CN" sz="1400" b="1"/>
              <a:t>9 5 6 3 4 4 7 0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链表：</a:t>
            </a:r>
            <a:r>
              <a:rPr lang="en-US" altLang="zh-CN" sz="1400" b="1"/>
              <a:t>0-&gt;3-&gt;4-&gt;4-&gt;5-&gt;6-&gt;7-&gt;9-&gt;0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插入：</a:t>
            </a:r>
            <a:r>
              <a:rPr lang="en-US" altLang="zh-CN" sz="1400" b="1"/>
              <a:t>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链表：</a:t>
            </a:r>
            <a:r>
              <a:rPr lang="en-US" altLang="zh-CN" sz="1400" b="1"/>
              <a:t>0-&gt;2-&gt;3-&gt;4-&gt;4-&gt;5-&gt;6-&gt;7-&gt;9-&gt;0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删除：</a:t>
            </a:r>
            <a:r>
              <a:rPr lang="en-US" altLang="zh-CN" sz="1400" b="1"/>
              <a:t>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链表：</a:t>
            </a:r>
            <a:r>
              <a:rPr lang="en-US" altLang="zh-CN" sz="1400" b="1"/>
              <a:t>0-&gt;2-&gt;3-&gt;4-&gt;4-&gt;6-&gt;7-&gt;9-&gt;0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查询：</a:t>
            </a:r>
            <a:r>
              <a:rPr lang="en-US" altLang="zh-CN" sz="1400" b="1"/>
              <a:t>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结果：</a:t>
            </a:r>
            <a:r>
              <a:rPr lang="en-US" altLang="zh-CN" sz="1400" b="1"/>
              <a:t>4</a:t>
            </a:r>
            <a:r>
              <a:rPr lang="zh-CN" altLang="en-US" sz="1400" b="1"/>
              <a:t>位于链表第</a:t>
            </a:r>
            <a:r>
              <a:rPr lang="en-US" altLang="zh-CN" sz="1400" b="1"/>
              <a:t>4</a:t>
            </a:r>
            <a:r>
              <a:rPr lang="zh-CN" altLang="en-US" sz="1400" b="1"/>
              <a:t>和</a:t>
            </a:r>
            <a:r>
              <a:rPr lang="en-US" altLang="zh-CN" sz="1400" b="1"/>
              <a:t>5</a:t>
            </a:r>
            <a:r>
              <a:rPr lang="zh-CN" altLang="en-US" sz="1400" b="1"/>
              <a:t>位</a:t>
            </a:r>
            <a:endParaRPr lang="en-US" altLang="zh-CN" sz="1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删除：</a:t>
            </a:r>
            <a:r>
              <a:rPr lang="en-US" altLang="zh-CN" sz="1400" b="1"/>
              <a:t>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链表：</a:t>
            </a:r>
            <a:r>
              <a:rPr lang="en-US" altLang="zh-CN" sz="1400" b="1"/>
              <a:t>0-&gt;2-&gt;3-&gt;6-&gt;7-&gt;9-&gt;0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 b="1"/>
          </a:p>
        </p:txBody>
      </p:sp>
      <p:pic>
        <p:nvPicPr>
          <p:cNvPr id="17415" name="图片 11">
            <a:extLst>
              <a:ext uri="{FF2B5EF4-FFF2-40B4-BE49-F238E27FC236}">
                <a16:creationId xmlns:a16="http://schemas.microsoft.com/office/drawing/2014/main" id="{F9D0E297-C61B-4CD2-80AA-ED12CB13A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5383213"/>
            <a:ext cx="3749675" cy="125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6" name="图片 13">
            <a:extLst>
              <a:ext uri="{FF2B5EF4-FFF2-40B4-BE49-F238E27FC236}">
                <a16:creationId xmlns:a16="http://schemas.microsoft.com/office/drawing/2014/main" id="{EF209C5F-48B1-4C0D-8CFB-D6299EAAF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5383213"/>
            <a:ext cx="3860800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8" name="图片 2">
            <a:extLst>
              <a:ext uri="{FF2B5EF4-FFF2-40B4-BE49-F238E27FC236}">
                <a16:creationId xmlns:a16="http://schemas.microsoft.com/office/drawing/2014/main" id="{6366DC06-672F-4E4C-B36C-F12F6AF6A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600" y="4329113"/>
            <a:ext cx="18764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9" name="图片 11">
            <a:extLst>
              <a:ext uri="{FF2B5EF4-FFF2-40B4-BE49-F238E27FC236}">
                <a16:creationId xmlns:a16="http://schemas.microsoft.com/office/drawing/2014/main" id="{9F53E667-617E-4A17-AEEE-61A39A74A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38" y="4449763"/>
            <a:ext cx="17335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id="{3CA212C2-6C85-41BB-B898-F2E36A63D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571500"/>
            <a:ext cx="497522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第六次实验</a:t>
            </a:r>
          </a:p>
        </p:txBody>
      </p:sp>
      <p:sp>
        <p:nvSpPr>
          <p:cNvPr id="18435" name="文本框 5">
            <a:extLst>
              <a:ext uri="{FF2B5EF4-FFF2-40B4-BE49-F238E27FC236}">
                <a16:creationId xmlns:a16="http://schemas.microsoft.com/office/drawing/2014/main" id="{711B1AEC-6598-480C-8E39-33D16226C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0200" y="727075"/>
            <a:ext cx="7200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搜索二叉树的建立、插入、删除以及遍历。</a:t>
            </a:r>
            <a:endParaRPr lang="en-US" altLang="zh-CN" sz="1800"/>
          </a:p>
        </p:txBody>
      </p:sp>
      <p:pic>
        <p:nvPicPr>
          <p:cNvPr id="18436" name="Picture 7">
            <a:extLst>
              <a:ext uri="{FF2B5EF4-FFF2-40B4-BE49-F238E27FC236}">
                <a16:creationId xmlns:a16="http://schemas.microsoft.com/office/drawing/2014/main" id="{23440A41-B1A8-409F-9BCE-2E4579731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0" y="1198563"/>
            <a:ext cx="2014538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45B3CC1-4345-47E0-B238-955CF017E034}"/>
              </a:ext>
            </a:extLst>
          </p:cNvPr>
          <p:cNvGraphicFramePr>
            <a:graphicFrameLocks noGrp="1"/>
          </p:cNvGraphicFramePr>
          <p:nvPr/>
        </p:nvGraphicFramePr>
        <p:xfrm>
          <a:off x="90488" y="3302000"/>
          <a:ext cx="2430462" cy="639856"/>
        </p:xfrm>
        <a:graphic>
          <a:graphicData uri="http://schemas.openxmlformats.org/drawingml/2006/table">
            <a:tbl>
              <a:tblPr/>
              <a:tblGrid>
                <a:gridCol w="1215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effectLst/>
                        </a:rPr>
                        <a:t>前序</a:t>
                      </a:r>
                    </a:p>
                  </a:txBody>
                  <a:tcPr marL="95249" marR="95249" marT="45608" marB="45608" anchor="ctr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111F1B"/>
                          </a:solidFill>
                          <a:effectLst/>
                        </a:rPr>
                        <a:t>根 ➜ 左 ➜ 右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95249" marR="95249" marT="45608" marB="45608" anchor="ctr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35F4312-C74F-4E82-8B7F-05223B8944B6}"/>
              </a:ext>
            </a:extLst>
          </p:cNvPr>
          <p:cNvGraphicFramePr>
            <a:graphicFrameLocks noGrp="1"/>
          </p:cNvGraphicFramePr>
          <p:nvPr/>
        </p:nvGraphicFramePr>
        <p:xfrm>
          <a:off x="269875" y="6245225"/>
          <a:ext cx="2430464" cy="639856"/>
        </p:xfrm>
        <a:graphic>
          <a:graphicData uri="http://schemas.openxmlformats.org/drawingml/2006/table">
            <a:tbl>
              <a:tblPr/>
              <a:tblGrid>
                <a:gridCol w="1215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effectLst/>
                        </a:rPr>
                        <a:t>中序</a:t>
                      </a:r>
                    </a:p>
                  </a:txBody>
                  <a:tcPr marL="95249" marR="95249" marT="45608" marB="45608" anchor="ctr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111F1B"/>
                          </a:solidFill>
                          <a:effectLst/>
                        </a:rPr>
                        <a:t>左 ➜ 根 ➜ 右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95249" marR="95249" marT="45608" marB="45608" anchor="ctr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8453" name="Picture 11">
            <a:extLst>
              <a:ext uri="{FF2B5EF4-FFF2-40B4-BE49-F238E27FC236}">
                <a16:creationId xmlns:a16="http://schemas.microsoft.com/office/drawing/2014/main" id="{62FA2086-358B-4452-A2BE-3940280C2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1125538"/>
            <a:ext cx="2022475" cy="209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57E2CDE-72D4-492C-9D40-98C9CD4C99BE}"/>
              </a:ext>
            </a:extLst>
          </p:cNvPr>
          <p:cNvGraphicFramePr>
            <a:graphicFrameLocks noGrp="1"/>
          </p:cNvGraphicFramePr>
          <p:nvPr/>
        </p:nvGraphicFramePr>
        <p:xfrm>
          <a:off x="3165475" y="3302000"/>
          <a:ext cx="2192338" cy="639856"/>
        </p:xfrm>
        <a:graphic>
          <a:graphicData uri="http://schemas.openxmlformats.org/drawingml/2006/table">
            <a:tbl>
              <a:tblPr/>
              <a:tblGrid>
                <a:gridCol w="1096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后序</a:t>
                      </a:r>
                    </a:p>
                  </a:txBody>
                  <a:tcPr marL="95271" marR="95271" marT="45608" marB="45608" anchor="ctr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111F1B"/>
                          </a:solidFill>
                          <a:effectLst/>
                        </a:rPr>
                        <a:t>左 ➜ 右 ➜ 根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95271" marR="95271" marT="45608" marB="45608" anchor="ctr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8462" name="Picture 13">
            <a:extLst>
              <a:ext uri="{FF2B5EF4-FFF2-40B4-BE49-F238E27FC236}">
                <a16:creationId xmlns:a16="http://schemas.microsoft.com/office/drawing/2014/main" id="{A830A777-1FFC-4ED2-8D30-FBD284217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338" y="3913188"/>
            <a:ext cx="219075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3F160FE-58EE-486A-815E-7B382BC0BF3C}"/>
              </a:ext>
            </a:extLst>
          </p:cNvPr>
          <p:cNvGraphicFramePr>
            <a:graphicFrameLocks noGrp="1"/>
          </p:cNvGraphicFramePr>
          <p:nvPr/>
        </p:nvGraphicFramePr>
        <p:xfrm>
          <a:off x="3019425" y="6245225"/>
          <a:ext cx="2489200" cy="639856"/>
        </p:xfrm>
        <a:graphic>
          <a:graphicData uri="http://schemas.openxmlformats.org/drawingml/2006/table">
            <a:tbl>
              <a:tblPr/>
              <a:tblGrid>
                <a:gridCol w="124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广度优先</a:t>
                      </a:r>
                    </a:p>
                  </a:txBody>
                  <a:tcPr marL="95291" marR="95291" marT="45608" marB="45608" anchor="ctr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111F1B"/>
                          </a:solidFill>
                          <a:effectLst/>
                        </a:rPr>
                        <a:t>层序，横向访问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95291" marR="95291" marT="45608" marB="45608" anchor="ctr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8471" name="Picture 15">
            <a:extLst>
              <a:ext uri="{FF2B5EF4-FFF2-40B4-BE49-F238E27FC236}">
                <a16:creationId xmlns:a16="http://schemas.microsoft.com/office/drawing/2014/main" id="{E5C4E4B1-398D-44CB-81BB-FFBC35A40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975" y="1123950"/>
            <a:ext cx="2022475" cy="210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D19D724-18D8-49FE-BCBE-33D152C12257}"/>
              </a:ext>
            </a:extLst>
          </p:cNvPr>
          <p:cNvGraphicFramePr>
            <a:graphicFrameLocks noGrp="1"/>
          </p:cNvGraphicFramePr>
          <p:nvPr/>
        </p:nvGraphicFramePr>
        <p:xfrm>
          <a:off x="5619750" y="3302000"/>
          <a:ext cx="3055938" cy="639856"/>
        </p:xfrm>
        <a:graphic>
          <a:graphicData uri="http://schemas.openxmlformats.org/drawingml/2006/table">
            <a:tbl>
              <a:tblPr/>
              <a:tblGrid>
                <a:gridCol w="1527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effectLst/>
                        </a:rPr>
                        <a:t>深度优先</a:t>
                      </a:r>
                    </a:p>
                  </a:txBody>
                  <a:tcPr marL="95246" marR="95246" marT="45608" marB="45608" anchor="ctr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111F1B"/>
                          </a:solidFill>
                          <a:effectLst/>
                        </a:rPr>
                        <a:t>纵向，探底到叶子节点</a:t>
                      </a:r>
                      <a:endParaRPr lang="zh-CN" altLang="en-US" sz="1800" dirty="0">
                        <a:effectLst/>
                      </a:endParaRPr>
                    </a:p>
                  </a:txBody>
                  <a:tcPr marL="95246" marR="95246" marT="45608" marB="45608" anchor="ctr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8480" name="Picture 9">
            <a:extLst>
              <a:ext uri="{FF2B5EF4-FFF2-40B4-BE49-F238E27FC236}">
                <a16:creationId xmlns:a16="http://schemas.microsoft.com/office/drawing/2014/main" id="{617C043C-9549-417B-A588-8D78B12B0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951288"/>
            <a:ext cx="2200275" cy="228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81" name="图片 2">
            <a:extLst>
              <a:ext uri="{FF2B5EF4-FFF2-40B4-BE49-F238E27FC236}">
                <a16:creationId xmlns:a16="http://schemas.microsoft.com/office/drawing/2014/main" id="{470C15A2-5F40-4957-9970-E2A71793E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488" y="4067175"/>
            <a:ext cx="3524250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E1ED335-BE33-41F0-B12F-1DA988630350}"/>
              </a:ext>
            </a:extLst>
          </p:cNvPr>
          <p:cNvSpPr txBox="1"/>
          <p:nvPr/>
        </p:nvSpPr>
        <p:spPr>
          <a:xfrm>
            <a:off x="7643421" y="417611"/>
            <a:ext cx="1096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日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8-10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文本框 5">
            <a:extLst>
              <a:ext uri="{FF2B5EF4-FFF2-40B4-BE49-F238E27FC236}">
                <a16:creationId xmlns:a16="http://schemas.microsoft.com/office/drawing/2014/main" id="{8BBD8B05-8C64-41C4-8541-98F2A8E1A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557338"/>
            <a:ext cx="72009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  </a:t>
            </a:r>
            <a:r>
              <a:rPr lang="zh-CN" altLang="en-US" sz="1800" dirty="0"/>
              <a:t>逆波兰表达式求值。逆波兰表达式，即后缀表示法，例如：</a:t>
            </a: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  </a:t>
            </a:r>
            <a:r>
              <a:rPr lang="zh-CN" altLang="en-US" sz="1800" dirty="0"/>
              <a:t>中缀表示的 </a:t>
            </a:r>
            <a:r>
              <a:rPr lang="en-US" altLang="zh-CN" sz="1800" dirty="0"/>
              <a:t>8+(1+2)*4 </a:t>
            </a:r>
            <a:r>
              <a:rPr lang="zh-CN" altLang="en-US" sz="1800" dirty="0"/>
              <a:t>的后缀表示为 </a:t>
            </a:r>
            <a:r>
              <a:rPr lang="en-US" altLang="zh-CN" sz="1800" dirty="0"/>
              <a:t>8 1 2 + 4 </a:t>
            </a:r>
            <a:r>
              <a:rPr lang="zh-CN" altLang="en-US" sz="1800" dirty="0"/>
              <a:t>* </a:t>
            </a:r>
            <a:r>
              <a:rPr lang="en-US" altLang="zh-CN" sz="1800" dirty="0"/>
              <a:t>+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  </a:t>
            </a:r>
            <a:r>
              <a:rPr lang="zh-CN" altLang="en-US" sz="1800" dirty="0"/>
              <a:t>用栈计算逆波兰表达式的基本思路是：按顺序遍历整个表达式，</a:t>
            </a: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  </a:t>
            </a:r>
            <a:r>
              <a:rPr lang="zh-CN" altLang="en-US" sz="1800" dirty="0"/>
              <a:t>若遇到操作数</a:t>
            </a:r>
            <a:r>
              <a:rPr lang="en-US" altLang="zh-CN" sz="1800" dirty="0"/>
              <a:t>(</a:t>
            </a:r>
            <a:r>
              <a:rPr lang="zh-CN" altLang="en-US" sz="1800" dirty="0"/>
              <a:t>假设都是二元运算符</a:t>
            </a:r>
            <a:r>
              <a:rPr lang="en-US" altLang="zh-CN" sz="1800" dirty="0"/>
              <a:t>)</a:t>
            </a:r>
            <a:r>
              <a:rPr lang="zh-CN" altLang="en-US" sz="1800" dirty="0"/>
              <a:t>则入栈；若遇到操作符</a:t>
            </a:r>
            <a:r>
              <a:rPr lang="en-US" altLang="zh-CN" sz="1800" dirty="0"/>
              <a:t>(+ - * /)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  </a:t>
            </a:r>
            <a:r>
              <a:rPr lang="zh-CN" altLang="en-US" sz="1800" dirty="0"/>
              <a:t>连续弹出两个操作数并执行相应的运算，然后将其运算结果入栈。</a:t>
            </a: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  </a:t>
            </a:r>
            <a:r>
              <a:rPr lang="zh-CN" altLang="en-US" sz="1800" dirty="0"/>
              <a:t>重复以上过程，直到表达式遍历完，栈内只剩下一个操作数时，那</a:t>
            </a: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  </a:t>
            </a:r>
            <a:r>
              <a:rPr lang="zh-CN" altLang="en-US" sz="1800" dirty="0"/>
              <a:t>就是最终的运算结果，弹出打印即可。</a:t>
            </a: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     输入用例至少</a:t>
            </a:r>
            <a:r>
              <a:rPr lang="en-US" altLang="zh-CN" sz="1800" b="1" dirty="0">
                <a:solidFill>
                  <a:srgbClr val="FF0000"/>
                </a:solidFill>
              </a:rPr>
              <a:t>5</a:t>
            </a:r>
            <a:r>
              <a:rPr lang="zh-CN" altLang="en-US" sz="1800" b="1" dirty="0">
                <a:solidFill>
                  <a:srgbClr val="FF0000"/>
                </a:solidFill>
              </a:rPr>
              <a:t>个</a:t>
            </a:r>
            <a:r>
              <a:rPr lang="zh-CN" altLang="en-US" sz="1800" dirty="0"/>
              <a:t>操作符</a:t>
            </a:r>
            <a:endParaRPr lang="en-US" altLang="zh-CN" sz="1800" dirty="0"/>
          </a:p>
        </p:txBody>
      </p:sp>
      <p:sp>
        <p:nvSpPr>
          <p:cNvPr id="19461" name="文本框 5">
            <a:extLst>
              <a:ext uri="{FF2B5EF4-FFF2-40B4-BE49-F238E27FC236}">
                <a16:creationId xmlns:a16="http://schemas.microsoft.com/office/drawing/2014/main" id="{C3C67B36-051C-43D6-8B55-EBF00A959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4255" y="4189413"/>
            <a:ext cx="197008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示例：</a:t>
            </a:r>
            <a:endParaRPr lang="en-US" altLang="zh-CN" sz="14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输入：</a:t>
            </a:r>
            <a:r>
              <a:rPr lang="en-US" altLang="zh-CN" sz="1400" b="1" dirty="0"/>
              <a:t>8 1 2 + 4 * +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中缀：</a:t>
            </a:r>
            <a:r>
              <a:rPr lang="en-US" altLang="zh-CN" sz="1400" b="1" dirty="0"/>
              <a:t>8+(1+2)*4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 dirty="0"/>
              <a:t>运算结果：</a:t>
            </a:r>
            <a:r>
              <a:rPr lang="en-US" altLang="zh-CN" sz="1400" b="1" dirty="0"/>
              <a:t>20</a:t>
            </a:r>
            <a:endParaRPr lang="zh-CN" altLang="en-US" sz="1400" b="1" dirty="0"/>
          </a:p>
        </p:txBody>
      </p:sp>
      <p:sp>
        <p:nvSpPr>
          <p:cNvPr id="19462" name="文本框 5">
            <a:extLst>
              <a:ext uri="{FF2B5EF4-FFF2-40B4-BE49-F238E27FC236}">
                <a16:creationId xmlns:a16="http://schemas.microsoft.com/office/drawing/2014/main" id="{F0DC409D-AD1E-4D56-A207-FC5834403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189413"/>
            <a:ext cx="19685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示例：</a:t>
            </a:r>
            <a:endParaRPr lang="en-US" altLang="zh-CN" sz="14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输入：</a:t>
            </a:r>
            <a:r>
              <a:rPr lang="en-US" altLang="zh-CN" sz="1400" b="1"/>
              <a:t>4 15 5 / +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中缀：</a:t>
            </a:r>
            <a:r>
              <a:rPr lang="en-US" altLang="zh-CN" sz="1400" b="1"/>
              <a:t>4+(15/5)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1"/>
              <a:t>运算结果：</a:t>
            </a:r>
            <a:r>
              <a:rPr lang="en-US" altLang="zh-CN" sz="1400" b="1"/>
              <a:t>7</a:t>
            </a:r>
            <a:endParaRPr lang="zh-CN" altLang="en-US" sz="1400" b="1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2191868C-1274-4B63-81FD-B1CFA71C6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672"/>
            <a:ext cx="302577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第七次实验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1418CD74-BB46-4096-8B20-0D33AE4EB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571500"/>
            <a:ext cx="4975225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457200" indent="-4572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</a:pPr>
            <a:r>
              <a:rPr lang="zh-CN" altLang="en-US" sz="2800" b="1" dirty="0">
                <a:solidFill>
                  <a:srgbClr val="FF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第八次实验</a:t>
            </a:r>
          </a:p>
        </p:txBody>
      </p:sp>
      <p:sp>
        <p:nvSpPr>
          <p:cNvPr id="20483" name="文本框 5">
            <a:extLst>
              <a:ext uri="{FF2B5EF4-FFF2-40B4-BE49-F238E27FC236}">
                <a16:creationId xmlns:a16="http://schemas.microsoft.com/office/drawing/2014/main" id="{F2E04708-AEE5-4E33-A437-069581333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243013"/>
            <a:ext cx="720090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舞伴配对问题。假设在大学生的周末舞会上，男、女学生各自排成</a:t>
            </a:r>
            <a:endParaRPr lang="en-US" altLang="zh-CN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一队。舞会开始时，依次从男队和女队的队头各出一人配成舞伴。</a:t>
            </a:r>
            <a:endParaRPr lang="en-US" altLang="zh-CN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如果两队初始人数不等，则较长的那一队中未配对者等待下一轮舞</a:t>
            </a:r>
            <a:endParaRPr lang="en-US" altLang="zh-CN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曲。要求男、女学生人数及其姓名以及舞会的轮数由用户从键盘输</a:t>
            </a:r>
            <a:endParaRPr lang="en-US" altLang="zh-CN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入，屏幕输出每一轮舞伴的配对名单，如果在该轮中有未配对的，</a:t>
            </a:r>
            <a:endParaRPr lang="en-US" altLang="zh-CN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/>
              <a:t>则要求能够从屏幕显示下一轮第一个出场的未配对者姓名。</a:t>
            </a:r>
          </a:p>
        </p:txBody>
      </p:sp>
      <p:pic>
        <p:nvPicPr>
          <p:cNvPr id="20485" name="图片 2">
            <a:extLst>
              <a:ext uri="{FF2B5EF4-FFF2-40B4-BE49-F238E27FC236}">
                <a16:creationId xmlns:a16="http://schemas.microsoft.com/office/drawing/2014/main" id="{83795FB4-0979-4A71-8499-93721498B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2921000"/>
            <a:ext cx="3698875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atermark">
  <a:themeElements>
    <a:clrScheme name="Waterm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CCFF"/>
      </a:accent1>
      <a:accent2>
        <a:srgbClr val="D9D8EC"/>
      </a:accent2>
      <a:accent3>
        <a:srgbClr val="FFFFFF"/>
      </a:accent3>
      <a:accent4>
        <a:srgbClr val="000000"/>
      </a:accent4>
      <a:accent5>
        <a:srgbClr val="E2E2FF"/>
      </a:accent5>
      <a:accent6>
        <a:srgbClr val="C4C4D6"/>
      </a:accent6>
      <a:hlink>
        <a:srgbClr val="6767FF"/>
      </a:hlink>
      <a:folHlink>
        <a:srgbClr val="9933FF"/>
      </a:folHlink>
    </a:clrScheme>
    <a:fontScheme name="Waterma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Waterm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Watermark</Template>
  <TotalTime>9775</TotalTime>
  <Words>1728</Words>
  <Application>Microsoft Macintosh PowerPoint</Application>
  <PresentationFormat>全屏显示(4:3)</PresentationFormat>
  <Paragraphs>142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等线</vt:lpstr>
      <vt:lpstr>华文楷体</vt:lpstr>
      <vt:lpstr>宋体</vt:lpstr>
      <vt:lpstr>Arial</vt:lpstr>
      <vt:lpstr>Arial Black</vt:lpstr>
      <vt:lpstr>Times New Roman</vt:lpstr>
      <vt:lpstr>Wingdings</vt:lpstr>
      <vt:lpstr>Watermark</vt:lpstr>
      <vt:lpstr>Pixel</vt:lpstr>
      <vt:lpstr>软件工程技术实验课 (C/C++语言)</vt:lpstr>
      <vt:lpstr>讲在前面</vt:lpstr>
      <vt:lpstr>C语言/C++教程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Jetstep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软件技能训练</dc:title>
  <dc:creator>wben</dc:creator>
  <cp:lastModifiedBy>紫明 何</cp:lastModifiedBy>
  <cp:revision>1074</cp:revision>
  <dcterms:created xsi:type="dcterms:W3CDTF">2008-09-12T02:21:48Z</dcterms:created>
  <dcterms:modified xsi:type="dcterms:W3CDTF">2026-09-16T02:52:09Z</dcterms:modified>
</cp:coreProperties>
</file>