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notesMasterIdLst>
    <p:notesMasterId r:id="rId6"/>
  </p:notesMasterIdLst>
  <p:handoutMasterIdLst>
    <p:handoutMasterId r:id="rId7"/>
  </p:handoutMasterIdLst>
  <p:sldIdLst>
    <p:sldId id="520" r:id="rId2"/>
    <p:sldId id="521" r:id="rId3"/>
    <p:sldId id="522" r:id="rId4"/>
    <p:sldId id="523" r:id="rId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4B25996-56D8-4548-ADD0-31F23E224FC3}">
          <p14:sldIdLst/>
        </p14:section>
        <p14:section name="2026.9.4" id="{41FBA98B-9CF6-4D9B-A77F-F8F2AA95399E}">
          <p14:sldIdLst/>
        </p14:section>
        <p14:section name="2026.9.5" id="{3AB79C25-8D83-44E8-B1F1-95ABF6C0986E}">
          <p14:sldIdLst/>
        </p14:section>
        <p14:section name="2026.9.6" id="{5B11A9A5-40E2-43B1-807B-397E629341B7}">
          <p14:sldIdLst>
            <p14:sldId id="520"/>
            <p14:sldId id="521"/>
            <p14:sldId id="522"/>
            <p14:sldId id="523"/>
          </p14:sldIdLst>
        </p14:section>
        <p14:section name="2026.9.7" id="{959D3B66-1793-43E8-988B-73E6FD45DF8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 Qiangguo" initials="" lastIdx="2" clrIdx="0"/>
  <p:cmAuthor id="2" name="未知用户1" initials="未知用户1" lastIdx="2" clrIdx="1"/>
  <p:cmAuthor id="3" name="Jin Qiangguo" initials="JQ" lastIdx="1" clrIdx="2">
    <p:extLst>
      <p:ext uri="{19B8F6BF-5375-455C-9EA6-DF929625EA0E}">
        <p15:presenceInfo xmlns:p15="http://schemas.microsoft.com/office/powerpoint/2012/main" userId="493a736e5562a2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CC"/>
    <a:srgbClr val="DCF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4" autoAdjust="0"/>
    <p:restoredTop sz="86441" autoAdjust="0"/>
  </p:normalViewPr>
  <p:slideViewPr>
    <p:cSldViewPr>
      <p:cViewPr varScale="1">
        <p:scale>
          <a:sx n="79" d="100"/>
          <a:sy n="79" d="100"/>
        </p:scale>
        <p:origin x="92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2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55C9744-349E-413E-B870-0DB18FE7A3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7F6E8-4CDC-4777-91BC-1616BCAFEB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349ABDB-413D-4415-B228-5019F4A5C822}" type="datetimeFigureOut">
              <a:rPr lang="zh-CN" altLang="en-US"/>
              <a:pPr>
                <a:defRPr/>
              </a:pPr>
              <a:t>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067766-2FF7-4CAF-AF75-5238F567F1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5A8C58-6027-47CE-8EBB-21F2F147A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4F693DC-6886-4B51-ABFD-F6C9B5DBC3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C59C60E-2A2F-4834-A8D9-5DC8E4F9BE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60DE3F-D7A4-46FA-9AF2-D07213D433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1D92AEC-EA0D-4C81-9C01-4825A6CC05B4}" type="datetimeFigureOut">
              <a:rPr lang="zh-CN" altLang="en-US"/>
              <a:pPr>
                <a:defRPr/>
              </a:pPr>
              <a:t>9/4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7F0B237-4979-447D-8753-D0897E373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2ECB030-99D3-4E35-B652-E62AF89DD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AD8A22-9D51-4D82-BF79-D2D3EF6EA2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A5C2B-7B69-4E4D-9627-A127C2EB5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43848F-110F-44C7-9E20-1C57F22208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7258F29-0D77-40BB-97F9-38991F4B473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24B1161-3554-43A1-A18A-03417CA384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122D31D-B629-434D-B68E-21277B6A9CF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8B90D81-7EA4-4C4B-A3F8-5F0D2E28C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F3F07E82-128B-4971-A841-70C35FCCF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C3382E11-926D-4F71-A18D-F63A3B8DD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30A12B13-EF73-4C98-AD3F-3D1655EF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D78F2E99-4DF6-4909-B447-B891B8B4F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C90BFC0-F52E-4329-95C7-671B9411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5DC42993-C56D-4CED-87D3-B460E0382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B8F6BD2D-63B8-41D9-B5A9-41A4802E1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9F278468-112E-4EFA-9223-9B196F579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3E24C4D8-1BDC-4BF7-9889-C6B1C9961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1E5920B7-9983-41E2-ABB9-48F261E1B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C82D61A9-8874-4326-91B9-8A1D6E029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3D26B-7845-4206-94BA-1BF51BC6AD63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421A917-E582-4F15-B6BE-00DEC2D3E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58E9ED40-5663-4AFC-B111-14DA954C7A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2A230-7B77-4E74-A939-5292C475FA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090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EE73D9-5AF6-403E-B65A-AD102B4D81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B98B82-39BA-498C-A48A-F086D8B07E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6D1D-302C-47C1-BC3E-63700714371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4D4E2D7-1AEC-489E-959F-4B888D61D06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A847E-C187-401A-83E6-B3E23E981E1F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506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DBDA19-8F42-4BFE-8DB7-327E6581B9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183639-59FB-44E9-846D-FA4890994E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6D2EF-AA78-438A-89A5-AEF1427F26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5B6B62C-98D5-46CF-A2B2-D046F8B1163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AF032-AE62-4C18-A6B4-A0962967D2E1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01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FBF1C2-1607-45CB-880E-F5A9AF8A93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13EFA5-8242-410E-8564-4D8B4CD4B9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53537-2EE3-4284-BC1C-A4B242C880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1033972-9C2F-4B83-ADE3-E0771FD2D3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34FE6-1408-4B1A-9D67-0B80D046833A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064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B2E874-A748-445B-B534-7FEDB39DD2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68C1BA7-D0AD-41F1-9FC2-4EBBB2F70A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9F5AB-CAC2-4D6E-BF22-0AEB164BD7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16119AAB-3AA5-44D1-8953-279913AEBA8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AB8AB-A87C-4699-B896-959A1B2C97F8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69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93C18-B789-4BBB-B6C2-FDD4A24E38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AE414-A471-4194-B703-8587AC1FED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63F17-F463-48D8-8545-D649C23B23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C545C92-759A-4452-A9C5-3FC82B9E978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985F4-C759-4239-97E4-3CE1543BEDC2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1958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7921E6-FD28-4ADB-9BB5-F782DF429E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3B9922-ECE4-42F6-80CD-2EC09821F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72E19-3A1E-45B0-9959-2FC15A9CC7D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6EEBB04-72A2-426B-ABF0-272B18876E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92AD-E172-4795-BB02-75B86F3408EE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40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FB4BD3-C969-4C56-AE02-778DB1982C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693B39-028B-4F16-9D47-8B92C8E5D4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2D1CD-2636-45D2-9140-2DCF8EA023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10D91EE-5058-4ADB-B34A-B8DEB01B3AA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8BF18-339C-47A1-A1D5-EDA5B48C2568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16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A5025E-6758-44F4-8A4F-554DD22843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EBC1E7-146C-48E7-967E-801000D936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EFAAB-EDCA-4FF7-8FB0-4D8391F700F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B7ED2E9-42E1-41EF-B72A-AAFDDB667BA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A1F43-C38E-4E0B-9CDE-8C873DF023EB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250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3AEEF2-8604-492C-B8DD-A22AAE2CC6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171A5B-431C-412A-AB31-96E12CE5AE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A24F3-5CB2-4B18-A664-AA945A132C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7FEF826-E004-4600-810E-B29DFDED60F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FDDB3-73A6-4BEA-8E61-14C8895B99B5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8905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144F43-F8F8-4F90-B2A8-5682C9386A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5B4F61-0E2C-4237-A4C3-2B5D8FA38A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3B241-525B-467A-A8BC-40BC70B8388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DE2F7C6-13C0-4A2B-AA8B-4764DAB04D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D0DE4-698F-4566-8C76-33D985142E8D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690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29593-A437-4BB0-BCFF-AE0446EEBD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12143E2-044C-4E2F-AC12-3F5BF26A77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77C94-C194-4688-9417-7C2B0122F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F672015-AC19-4750-9296-3B01AF08493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34252-6554-4543-A1F3-EEF4A3C55F15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809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7D4063-5B4B-4B92-99E4-DCC03C0C46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8C5D444-782D-4FCF-B2C0-6E5D6D43A3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638BB31-92B5-4D00-BFD1-9E764D87775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8F8FEC3C-A125-41DD-8DA5-3B6F9417D98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F3D00DB3-243E-4CCA-8C15-888FB88F8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59D91B85-34F1-4FAD-81EE-33927DA3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93B2A73E-8920-4CA2-964F-86747C9E3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E129C071-70DD-4B14-A166-7651255DB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7FFD4C6B-3B5F-4BB2-B7B3-1E9976421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3606EB29-7ADD-4152-BA17-00BC9E679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A57D59D4-62CC-42D4-AF25-4DE4CBD50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12">
              <a:extLst>
                <a:ext uri="{FF2B5EF4-FFF2-40B4-BE49-F238E27FC236}">
                  <a16:creationId xmlns:a16="http://schemas.microsoft.com/office/drawing/2014/main" id="{4A63D9E2-E581-4204-8539-AF43078D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A9CF7C84-F517-4732-97FB-0236B48A8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623FE00D-DD49-48B6-8127-2C810C7A6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3960C295-A593-47C1-ABE0-FE6499A691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B149D34E-F4BE-476E-956A-3A3AE0F9E0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fld id="{28DC0944-F550-44D5-9A14-50E700D62A1C}" type="datetime1">
              <a:rPr lang="zh-CN" altLang="en-US"/>
              <a:pPr>
                <a:defRPr/>
              </a:pPr>
              <a:t>9/4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7" r:id="rId1"/>
    <p:sldLayoutId id="2147484715" r:id="rId2"/>
    <p:sldLayoutId id="2147484716" r:id="rId3"/>
    <p:sldLayoutId id="2147484717" r:id="rId4"/>
    <p:sldLayoutId id="2147484718" r:id="rId5"/>
    <p:sldLayoutId id="2147484719" r:id="rId6"/>
    <p:sldLayoutId id="2147484720" r:id="rId7"/>
    <p:sldLayoutId id="2147484721" r:id="rId8"/>
    <p:sldLayoutId id="2147484722" r:id="rId9"/>
    <p:sldLayoutId id="2147484723" r:id="rId10"/>
    <p:sldLayoutId id="2147484724" r:id="rId11"/>
    <p:sldLayoutId id="21474847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第十三次实验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D97140F2-3F92-C7E2-7369-2D0BC91E4016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7405" y="1484313"/>
            <a:ext cx="7560766" cy="42767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b="1" dirty="0" err="1">
                <a:latin typeface="+mn-ea"/>
                <a:ea typeface="+mn-ea"/>
              </a:rPr>
              <a:t>最长上升子序列（LIS</a:t>
            </a:r>
            <a:r>
              <a:rPr sz="1600" b="1" dirty="0">
                <a:latin typeface="+mn-ea"/>
                <a:ea typeface="+mn-ea"/>
              </a:rPr>
              <a:t>）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 err="1">
                <a:latin typeface="+mn-ea"/>
                <a:ea typeface="+mn-ea"/>
              </a:rPr>
              <a:t>给定一个长度为</a:t>
            </a:r>
            <a:r>
              <a:rPr sz="1600" dirty="0">
                <a:latin typeface="+mn-ea"/>
                <a:ea typeface="+mn-ea"/>
              </a:rPr>
              <a:t> n </a:t>
            </a:r>
            <a:r>
              <a:rPr sz="1600" dirty="0" err="1">
                <a:latin typeface="+mn-ea"/>
                <a:ea typeface="+mn-ea"/>
              </a:rPr>
              <a:t>的整数序列，求其最长严格上升子序列的长度，并输出任意一个这样的子序列</a:t>
            </a:r>
            <a:r>
              <a:rPr sz="1600" dirty="0">
                <a:latin typeface="+mn-ea"/>
                <a:ea typeface="+mn-ea"/>
              </a:rPr>
              <a:t>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数据范围：1 ≤ n ≤ 1000，|</a:t>
            </a:r>
            <a:r>
              <a:rPr sz="1600" dirty="0" err="1">
                <a:latin typeface="+mn-ea"/>
                <a:ea typeface="+mn-ea"/>
              </a:rPr>
              <a:t>a_i</a:t>
            </a:r>
            <a:r>
              <a:rPr sz="1600" dirty="0">
                <a:latin typeface="+mn-ea"/>
                <a:ea typeface="+mn-ea"/>
              </a:rPr>
              <a:t>| ≤ 10^9。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 err="1">
                <a:latin typeface="+mn-ea"/>
                <a:ea typeface="+mn-ea"/>
              </a:rPr>
              <a:t>要求：O</a:t>
            </a:r>
            <a:r>
              <a:rPr sz="1600" dirty="0">
                <a:latin typeface="+mn-ea"/>
                <a:ea typeface="+mn-ea"/>
              </a:rPr>
              <a:t>(n²) DP </a:t>
            </a:r>
            <a:r>
              <a:rPr sz="1600" dirty="0" err="1">
                <a:latin typeface="+mn-ea"/>
                <a:ea typeface="+mn-ea"/>
              </a:rPr>
              <a:t>即可，进阶可尝试</a:t>
            </a:r>
            <a:r>
              <a:rPr sz="1600" dirty="0">
                <a:latin typeface="+mn-ea"/>
                <a:ea typeface="+mn-ea"/>
              </a:rPr>
              <a:t> O(n log n)。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输入示例：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10 9 2 5 3 7 101 18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输出示例：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2 3 7 101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（或其它合法 LIS）</a:t>
            </a:r>
          </a:p>
        </p:txBody>
      </p:sp>
    </p:spTree>
    <p:extLst>
      <p:ext uri="{BB962C8B-B14F-4D97-AF65-F5344CB8AC3E}">
        <p14:creationId xmlns:p14="http://schemas.microsoft.com/office/powerpoint/2010/main" val="27375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第十四次实验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10F84E95-82DE-BD78-55C9-065F65B73C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7405" y="1484313"/>
            <a:ext cx="7560766" cy="45231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b="1" dirty="0">
                <a:latin typeface="+mn-ea"/>
                <a:ea typeface="+mn-ea"/>
              </a:rPr>
              <a:t>0-1 </a:t>
            </a:r>
            <a:r>
              <a:rPr sz="1600" b="1" dirty="0" err="1">
                <a:latin typeface="+mn-ea"/>
                <a:ea typeface="+mn-ea"/>
              </a:rPr>
              <a:t>背包</a:t>
            </a:r>
            <a:endParaRPr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有 n </a:t>
            </a:r>
            <a:r>
              <a:rPr sz="1600" dirty="0" err="1">
                <a:latin typeface="+mn-ea"/>
                <a:ea typeface="+mn-ea"/>
              </a:rPr>
              <a:t>件物品，第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i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件重量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w_i、价值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v_i，背包容量</a:t>
            </a:r>
            <a:r>
              <a:rPr sz="1600" dirty="0">
                <a:latin typeface="+mn-ea"/>
                <a:ea typeface="+mn-ea"/>
              </a:rPr>
              <a:t> W。求能装下的最大价值，并输出选择的物品编号（1-based，任意一组最优解）。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数据范围：1 ≤ n ≤ 100，1 ≤ W ≤ 1000，1 ≤ </a:t>
            </a:r>
            <a:r>
              <a:rPr sz="1600" dirty="0" err="1">
                <a:latin typeface="+mn-ea"/>
                <a:ea typeface="+mn-ea"/>
              </a:rPr>
              <a:t>w_i,v_i</a:t>
            </a:r>
            <a:r>
              <a:rPr sz="1600" dirty="0">
                <a:latin typeface="+mn-ea"/>
                <a:ea typeface="+mn-ea"/>
              </a:rPr>
              <a:t> ≤ 100。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输入示例：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4 5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2 3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3 4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4 5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输出示例：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7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（或其它最优组合）</a:t>
            </a:r>
          </a:p>
        </p:txBody>
      </p:sp>
    </p:spTree>
    <p:extLst>
      <p:ext uri="{BB962C8B-B14F-4D97-AF65-F5344CB8AC3E}">
        <p14:creationId xmlns:p14="http://schemas.microsoft.com/office/powerpoint/2010/main" val="295424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第十五次实验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6AB2588D-55B5-2437-3D04-7781DE3C3B2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7405" y="1484313"/>
            <a:ext cx="7560766" cy="452310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b="1" dirty="0" err="1">
                <a:latin typeface="+mn-ea"/>
                <a:ea typeface="+mn-ea"/>
              </a:rPr>
              <a:t>区间调度</a:t>
            </a:r>
            <a:endParaRPr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有 n </a:t>
            </a:r>
            <a:r>
              <a:rPr sz="1600" dirty="0" err="1">
                <a:latin typeface="+mn-ea"/>
                <a:ea typeface="+mn-ea"/>
              </a:rPr>
              <a:t>个活动，第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i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个活动开始时间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s_i、结束时间</a:t>
            </a:r>
            <a:r>
              <a:rPr sz="1600" dirty="0">
                <a:latin typeface="+mn-ea"/>
                <a:ea typeface="+mn-ea"/>
              </a:rPr>
              <a:t> </a:t>
            </a:r>
            <a:r>
              <a:rPr sz="1600" dirty="0" err="1">
                <a:latin typeface="+mn-ea"/>
                <a:ea typeface="+mn-ea"/>
              </a:rPr>
              <a:t>e_i。选择尽可能多的活动，使它们两两不重叠（结束时间</a:t>
            </a:r>
            <a:r>
              <a:rPr sz="1600" dirty="0">
                <a:latin typeface="+mn-ea"/>
                <a:ea typeface="+mn-ea"/>
              </a:rPr>
              <a:t> = </a:t>
            </a:r>
            <a:r>
              <a:rPr sz="1600" dirty="0" err="1">
                <a:latin typeface="+mn-ea"/>
                <a:ea typeface="+mn-ea"/>
              </a:rPr>
              <a:t>开始时间视为不重叠</a:t>
            </a:r>
            <a:r>
              <a:rPr sz="1600" dirty="0">
                <a:latin typeface="+mn-ea"/>
                <a:ea typeface="+mn-ea"/>
              </a:rPr>
              <a:t>）。输出最多活动数及任意一组方案的编号</a:t>
            </a:r>
            <a:r>
              <a:rPr sz="1600" dirty="0">
                <a:latin typeface="+mn-ea"/>
                <a:ea typeface="+mn-ea"/>
                <a:sym typeface="+mn-ea"/>
              </a:rPr>
              <a:t>（1-based</a:t>
            </a:r>
            <a:r>
              <a:rPr lang="zh-CN" sz="1600" dirty="0">
                <a:latin typeface="+mn-ea"/>
                <a:ea typeface="+mn-ea"/>
                <a:sym typeface="+mn-ea"/>
              </a:rPr>
              <a:t>）</a:t>
            </a:r>
            <a:r>
              <a:rPr sz="1600" dirty="0">
                <a:latin typeface="+mn-ea"/>
                <a:ea typeface="+mn-ea"/>
              </a:rPr>
              <a:t>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数据范围：1 ≤ n ≤ 10^5，0 ≤ </a:t>
            </a:r>
            <a:r>
              <a:rPr sz="1600" dirty="0" err="1">
                <a:latin typeface="+mn-ea"/>
                <a:ea typeface="+mn-ea"/>
              </a:rPr>
              <a:t>s_i</a:t>
            </a:r>
            <a:r>
              <a:rPr sz="1600" dirty="0">
                <a:latin typeface="+mn-ea"/>
                <a:ea typeface="+mn-ea"/>
              </a:rPr>
              <a:t> &lt; </a:t>
            </a:r>
            <a:r>
              <a:rPr sz="1600" dirty="0" err="1">
                <a:latin typeface="+mn-ea"/>
                <a:ea typeface="+mn-ea"/>
              </a:rPr>
              <a:t>e_i</a:t>
            </a:r>
            <a:r>
              <a:rPr sz="1600" dirty="0">
                <a:latin typeface="+mn-ea"/>
                <a:ea typeface="+mn-ea"/>
              </a:rPr>
              <a:t> ≤ 10^9。要求 O(n log n)。</a:t>
            </a:r>
            <a:br>
              <a:rPr sz="1600" dirty="0">
                <a:latin typeface="+mn-ea"/>
                <a:ea typeface="+mn-ea"/>
              </a:rPr>
            </a:b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输入示例：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3 5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0 6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输出示例：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1 3</a:t>
            </a:r>
          </a:p>
        </p:txBody>
      </p:sp>
    </p:spTree>
    <p:extLst>
      <p:ext uri="{BB962C8B-B14F-4D97-AF65-F5344CB8AC3E}">
        <p14:creationId xmlns:p14="http://schemas.microsoft.com/office/powerpoint/2010/main" val="412203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4B7B14-0DCC-4146-A40E-1363A635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第十六次实验</a:t>
            </a:r>
          </a:p>
        </p:txBody>
      </p:sp>
      <p:sp>
        <p:nvSpPr>
          <p:cNvPr id="4" name="文本框 7">
            <a:extLst>
              <a:ext uri="{FF2B5EF4-FFF2-40B4-BE49-F238E27FC236}">
                <a16:creationId xmlns:a16="http://schemas.microsoft.com/office/drawing/2014/main" id="{65246784-5982-E1B7-CC91-37DFC55460AE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7405" y="1484313"/>
            <a:ext cx="7560766" cy="3784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b="1" dirty="0" err="1">
                <a:latin typeface="+mn-ea"/>
                <a:ea typeface="+mn-ea"/>
              </a:rPr>
              <a:t>全排列生成</a:t>
            </a:r>
            <a:r>
              <a:rPr sz="1600" b="1" dirty="0">
                <a:latin typeface="+mn-ea"/>
                <a:ea typeface="+mn-ea"/>
              </a:rPr>
              <a:t> + </a:t>
            </a:r>
            <a:r>
              <a:rPr sz="1600" b="1" dirty="0" err="1">
                <a:latin typeface="+mn-ea"/>
                <a:ea typeface="+mn-ea"/>
              </a:rPr>
              <a:t>剪枝</a:t>
            </a:r>
            <a:endParaRPr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b="1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 err="1">
                <a:latin typeface="+mn-ea"/>
                <a:ea typeface="+mn-ea"/>
              </a:rPr>
              <a:t>给定</a:t>
            </a:r>
            <a:r>
              <a:rPr sz="1600" dirty="0">
                <a:latin typeface="+mn-ea"/>
                <a:ea typeface="+mn-ea"/>
              </a:rPr>
              <a:t> n </a:t>
            </a:r>
            <a:r>
              <a:rPr sz="1600" dirty="0" err="1">
                <a:latin typeface="+mn-ea"/>
                <a:ea typeface="+mn-ea"/>
              </a:rPr>
              <a:t>个互不相同的整数，生成它们的所有全排列，并按字典序从小到大输出</a:t>
            </a:r>
            <a:r>
              <a:rPr lang="zh-CN" sz="1600" dirty="0">
                <a:latin typeface="+mn-ea"/>
                <a:ea typeface="+mn-ea"/>
              </a:rPr>
              <a:t>。</a:t>
            </a:r>
            <a:r>
              <a:rPr sz="1600" dirty="0" err="1">
                <a:latin typeface="+mn-ea"/>
                <a:ea typeface="+mn-ea"/>
              </a:rPr>
              <a:t>额外要求：如果某个排列中存在任意两个相邻数字的差的绝对值为</a:t>
            </a:r>
            <a:r>
              <a:rPr sz="1600" dirty="0">
                <a:latin typeface="+mn-ea"/>
                <a:ea typeface="+mn-ea"/>
              </a:rPr>
              <a:t> 1，则该排列直接剪枝，不予输出。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sz="1600" dirty="0">
                <a:latin typeface="+mn-ea"/>
                <a:ea typeface="+mn-ea"/>
              </a:rPr>
              <a:t>数据范围：1 ≤ n ≤ 9。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输入示例：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1 2 4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sz="16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输出示例：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1 4 2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sz="1600" dirty="0">
                <a:latin typeface="+mn-ea"/>
                <a:ea typeface="+mn-ea"/>
              </a:rPr>
              <a:t>2 4 1</a:t>
            </a:r>
          </a:p>
        </p:txBody>
      </p:sp>
    </p:spTree>
    <p:extLst>
      <p:ext uri="{BB962C8B-B14F-4D97-AF65-F5344CB8AC3E}">
        <p14:creationId xmlns:p14="http://schemas.microsoft.com/office/powerpoint/2010/main" val="27656062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9775</TotalTime>
  <Words>276</Words>
  <Application>Microsoft Office PowerPoint</Application>
  <PresentationFormat>全屏显示(4:3)</PresentationFormat>
  <Paragraphs>65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华文楷体</vt:lpstr>
      <vt:lpstr>Arial</vt:lpstr>
      <vt:lpstr>Arial Black</vt:lpstr>
      <vt:lpstr>Times New Roman</vt:lpstr>
      <vt:lpstr>Wingdings</vt:lpstr>
      <vt:lpstr>Pixel</vt:lpstr>
      <vt:lpstr>PowerPoint 演示文稿</vt:lpstr>
      <vt:lpstr>PowerPoint 演示文稿</vt:lpstr>
      <vt:lpstr>PowerPoint 演示文稿</vt:lpstr>
      <vt:lpstr>PowerPoint 演示文稿</vt:lpstr>
    </vt:vector>
  </TitlesOfParts>
  <Company>Jetstep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软件技能训练</dc:title>
  <dc:creator>wben</dc:creator>
  <cp:lastModifiedBy>Qiangguo Jin</cp:lastModifiedBy>
  <cp:revision>1073</cp:revision>
  <dcterms:created xsi:type="dcterms:W3CDTF">2008-09-12T02:21:48Z</dcterms:created>
  <dcterms:modified xsi:type="dcterms:W3CDTF">2026-09-04T00:46:54Z</dcterms:modified>
</cp:coreProperties>
</file>